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98" r:id="rId2"/>
    <p:sldId id="288" r:id="rId3"/>
    <p:sldId id="301" r:id="rId4"/>
    <p:sldId id="285" r:id="rId5"/>
    <p:sldId id="300" r:id="rId6"/>
    <p:sldId id="303" r:id="rId7"/>
    <p:sldId id="261" r:id="rId8"/>
    <p:sldId id="286" r:id="rId9"/>
    <p:sldId id="295" r:id="rId10"/>
    <p:sldId id="264" r:id="rId11"/>
    <p:sldId id="305" r:id="rId12"/>
    <p:sldId id="294" r:id="rId13"/>
    <p:sldId id="296" r:id="rId14"/>
    <p:sldId id="297" r:id="rId15"/>
    <p:sldId id="304" r:id="rId16"/>
    <p:sldId id="289" r:id="rId17"/>
    <p:sldId id="287" r:id="rId18"/>
    <p:sldId id="302" r:id="rId19"/>
    <p:sldId id="290" r:id="rId20"/>
    <p:sldId id="292" r:id="rId21"/>
    <p:sldId id="293" r:id="rId22"/>
    <p:sldId id="306" r:id="rId23"/>
    <p:sldId id="299" r:id="rId24"/>
    <p:sldId id="307" r:id="rId25"/>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D8FB"/>
    <a:srgbClr val="480BBE"/>
    <a:srgbClr val="D3A269"/>
    <a:srgbClr val="F9EFE4"/>
    <a:srgbClr val="FFBCB3"/>
    <a:srgbClr val="E7CCAB"/>
    <a:srgbClr val="FF2100"/>
    <a:srgbClr val="080623"/>
    <a:srgbClr val="6A0A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59" autoAdjust="0"/>
    <p:restoredTop sz="68201" autoAdjust="0"/>
  </p:normalViewPr>
  <p:slideViewPr>
    <p:cSldViewPr>
      <p:cViewPr varScale="1">
        <p:scale>
          <a:sx n="58" d="100"/>
          <a:sy n="58" d="100"/>
        </p:scale>
        <p:origin x="106" y="413"/>
      </p:cViewPr>
      <p:guideLst>
        <p:guide orient="horz" pos="3240"/>
        <p:guide pos="5760"/>
      </p:guideLst>
    </p:cSldViewPr>
  </p:slideViewPr>
  <p:notesTextViewPr>
    <p:cViewPr>
      <p:scale>
        <a:sx n="3" d="2"/>
        <a:sy n="3" d="2"/>
      </p:scale>
      <p:origin x="0" y="0"/>
    </p:cViewPr>
  </p:notesText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244AD4-7F46-4EC2-B501-F47109328B15}"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00783-7442-4403-B42E-4B8B1F0D7145}" type="slidenum">
              <a:rPr lang="en-US" smtClean="0"/>
              <a:t>‹#›</a:t>
            </a:fld>
            <a:endParaRPr lang="en-US"/>
          </a:p>
        </p:txBody>
      </p:sp>
    </p:spTree>
    <p:extLst>
      <p:ext uri="{BB962C8B-B14F-4D97-AF65-F5344CB8AC3E}">
        <p14:creationId xmlns:p14="http://schemas.microsoft.com/office/powerpoint/2010/main" val="825836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Classical controls still used in:</a:t>
            </a:r>
          </a:p>
          <a:p>
            <a:pPr marL="171450" indent="-171450">
              <a:buFontTx/>
              <a:buChar char="-"/>
            </a:pPr>
            <a:r>
              <a:rPr lang="en-US" dirty="0"/>
              <a:t>industrial manipulators (precision required)</a:t>
            </a:r>
          </a:p>
          <a:p>
            <a:pPr marL="171450" indent="-171450">
              <a:buFontTx/>
              <a:buChar char="-"/>
            </a:pPr>
            <a:r>
              <a:rPr lang="en-US" dirty="0"/>
              <a:t>aerospace certifications (traceability and determinism required)</a:t>
            </a:r>
          </a:p>
          <a:p>
            <a:pPr marL="171450" indent="-171450">
              <a:buFontTx/>
              <a:buChar char="-"/>
            </a:pPr>
            <a:r>
              <a:rPr lang="en-US" dirty="0"/>
              <a:t>process control systems (PID and MPC easier to implement and offer determinism)</a:t>
            </a:r>
          </a:p>
        </p:txBody>
      </p:sp>
      <p:sp>
        <p:nvSpPr>
          <p:cNvPr id="4" name="Slide Number Placeholder 3"/>
          <p:cNvSpPr>
            <a:spLocks noGrp="1"/>
          </p:cNvSpPr>
          <p:nvPr>
            <p:ph type="sldNum" sz="quarter" idx="5"/>
          </p:nvPr>
        </p:nvSpPr>
        <p:spPr/>
        <p:txBody>
          <a:bodyPr/>
          <a:lstStyle/>
          <a:p>
            <a:fld id="{73400783-7442-4403-B42E-4B8B1F0D7145}" type="slidenum">
              <a:rPr lang="en-US" smtClean="0"/>
              <a:t>2</a:t>
            </a:fld>
            <a:endParaRPr lang="en-US"/>
          </a:p>
        </p:txBody>
      </p:sp>
    </p:spTree>
    <p:extLst>
      <p:ext uri="{BB962C8B-B14F-4D97-AF65-F5344CB8AC3E}">
        <p14:creationId xmlns:p14="http://schemas.microsoft.com/office/powerpoint/2010/main" val="3084882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31586-16DA-A908-916F-85DF93970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C5E4C-101C-9A03-4F2C-8E863D211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E3D95-9E1C-96A5-E853-D38DDB93A3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056FCC-33F8-E487-A67D-2B0FD20276C4}"/>
              </a:ext>
            </a:extLst>
          </p:cNvPr>
          <p:cNvSpPr>
            <a:spLocks noGrp="1"/>
          </p:cNvSpPr>
          <p:nvPr>
            <p:ph type="sldNum" sz="quarter" idx="5"/>
          </p:nvPr>
        </p:nvSpPr>
        <p:spPr/>
        <p:txBody>
          <a:bodyPr/>
          <a:lstStyle/>
          <a:p>
            <a:fld id="{73400783-7442-4403-B42E-4B8B1F0D7145}" type="slidenum">
              <a:rPr lang="en-US" smtClean="0"/>
              <a:t>4</a:t>
            </a:fld>
            <a:endParaRPr lang="en-US"/>
          </a:p>
        </p:txBody>
      </p:sp>
    </p:spTree>
    <p:extLst>
      <p:ext uri="{BB962C8B-B14F-4D97-AF65-F5344CB8AC3E}">
        <p14:creationId xmlns:p14="http://schemas.microsoft.com/office/powerpoint/2010/main" val="2925710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average return: mean return at each timestep</a:t>
            </a:r>
          </a:p>
          <a:p>
            <a:r>
              <a:rPr lang="en-US" dirty="0"/>
              <a:t>Critic should be better than that…it should be able to differentiate among the different states in order to more accurately predict the state value (expected discounted return from any given state/observation)</a:t>
            </a:r>
          </a:p>
        </p:txBody>
      </p:sp>
      <p:sp>
        <p:nvSpPr>
          <p:cNvPr id="4" name="Slide Number Placeholder 3"/>
          <p:cNvSpPr>
            <a:spLocks noGrp="1"/>
          </p:cNvSpPr>
          <p:nvPr>
            <p:ph type="sldNum" sz="quarter" idx="5"/>
          </p:nvPr>
        </p:nvSpPr>
        <p:spPr/>
        <p:txBody>
          <a:bodyPr/>
          <a:lstStyle/>
          <a:p>
            <a:fld id="{73400783-7442-4403-B42E-4B8B1F0D7145}" type="slidenum">
              <a:rPr lang="en-US" smtClean="0"/>
              <a:t>13</a:t>
            </a:fld>
            <a:endParaRPr lang="en-US"/>
          </a:p>
        </p:txBody>
      </p:sp>
    </p:spTree>
    <p:extLst>
      <p:ext uri="{BB962C8B-B14F-4D97-AF65-F5344CB8AC3E}">
        <p14:creationId xmlns:p14="http://schemas.microsoft.com/office/powerpoint/2010/main" val="666197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measure how aggressively the policy was changed during the actor update.</a:t>
            </a:r>
          </a:p>
          <a:p>
            <a:r>
              <a:rPr lang="en-US" dirty="0"/>
              <a:t>Not aggressive enough: need more samples/episodes (learning takes too long)</a:t>
            </a:r>
          </a:p>
          <a:p>
            <a:r>
              <a:rPr lang="en-US" dirty="0"/>
              <a:t>Too aggressive: could prematurely collapse policy spread (settle on exploitation too fast without exploring), and it can also degrade critic’s value estimates, which in turn degrade the actor’s updates.</a:t>
            </a:r>
          </a:p>
          <a:p>
            <a:endParaRPr lang="en-US" dirty="0"/>
          </a:p>
          <a:p>
            <a:r>
              <a:rPr lang="en-US" dirty="0"/>
              <a:t>Keeping the (new) policy near the rollout (old) policy keeps the batch valid for both the actor's importance correction and the critic's targets.</a:t>
            </a:r>
          </a:p>
        </p:txBody>
      </p:sp>
      <p:sp>
        <p:nvSpPr>
          <p:cNvPr id="4" name="Slide Number Placeholder 3"/>
          <p:cNvSpPr>
            <a:spLocks noGrp="1"/>
          </p:cNvSpPr>
          <p:nvPr>
            <p:ph type="sldNum" sz="quarter" idx="5"/>
          </p:nvPr>
        </p:nvSpPr>
        <p:spPr/>
        <p:txBody>
          <a:bodyPr/>
          <a:lstStyle/>
          <a:p>
            <a:fld id="{73400783-7442-4403-B42E-4B8B1F0D7145}" type="slidenum">
              <a:rPr lang="en-US" smtClean="0"/>
              <a:t>14</a:t>
            </a:fld>
            <a:endParaRPr lang="en-US"/>
          </a:p>
        </p:txBody>
      </p:sp>
    </p:spTree>
    <p:extLst>
      <p:ext uri="{BB962C8B-B14F-4D97-AF65-F5344CB8AC3E}">
        <p14:creationId xmlns:p14="http://schemas.microsoft.com/office/powerpoint/2010/main" val="1447000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ways: on-device learning</a:t>
            </a:r>
          </a:p>
        </p:txBody>
      </p:sp>
      <p:sp>
        <p:nvSpPr>
          <p:cNvPr id="4" name="Slide Number Placeholder 3"/>
          <p:cNvSpPr>
            <a:spLocks noGrp="1"/>
          </p:cNvSpPr>
          <p:nvPr>
            <p:ph type="sldNum" sz="quarter" idx="5"/>
          </p:nvPr>
        </p:nvSpPr>
        <p:spPr/>
        <p:txBody>
          <a:bodyPr/>
          <a:lstStyle/>
          <a:p>
            <a:fld id="{73400783-7442-4403-B42E-4B8B1F0D7145}" type="slidenum">
              <a:rPr lang="en-US" smtClean="0"/>
              <a:t>20</a:t>
            </a:fld>
            <a:endParaRPr lang="en-US"/>
          </a:p>
        </p:txBody>
      </p:sp>
    </p:spTree>
    <p:extLst>
      <p:ext uri="{BB962C8B-B14F-4D97-AF65-F5344CB8AC3E}">
        <p14:creationId xmlns:p14="http://schemas.microsoft.com/office/powerpoint/2010/main" val="3425487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solidFill>
                  <a:srgbClr val="E7CCAB"/>
                </a:solidFill>
                <a:latin typeface="DigiKey Artex" pitchFamily="50"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dirty="0"/>
              <a:t>Click to edit Master subtitle style</a:t>
            </a:r>
          </a:p>
        </p:txBody>
      </p:sp>
      <p:sp>
        <p:nvSpPr>
          <p:cNvPr id="4" name="Date Placeholder 3"/>
          <p:cNvSpPr>
            <a:spLocks noGrp="1"/>
          </p:cNvSpPr>
          <p:nvPr>
            <p:ph type="dt" sz="half" idx="10"/>
          </p:nvPr>
        </p:nvSpPr>
        <p:spPr/>
        <p:txBody>
          <a:bodyPr/>
          <a:lstStyle/>
          <a:p>
            <a:fld id="{EA84BC6D-3EAE-40DF-847C-23CBE1DB33D0}"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1AA43-964B-4820-B5DE-998938735070}" type="slidenum">
              <a:rPr lang="en-US" smtClean="0"/>
              <a:t>‹#›</a:t>
            </a:fld>
            <a:endParaRPr lang="en-US"/>
          </a:p>
        </p:txBody>
      </p:sp>
    </p:spTree>
    <p:extLst>
      <p:ext uri="{BB962C8B-B14F-4D97-AF65-F5344CB8AC3E}">
        <p14:creationId xmlns:p14="http://schemas.microsoft.com/office/powerpoint/2010/main" val="1753579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84BC6D-3EAE-40DF-847C-23CBE1DB33D0}"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1AA43-964B-4820-B5DE-998938735070}" type="slidenum">
              <a:rPr lang="en-US" smtClean="0"/>
              <a:t>‹#›</a:t>
            </a:fld>
            <a:endParaRPr lang="en-US"/>
          </a:p>
        </p:txBody>
      </p:sp>
    </p:spTree>
    <p:extLst>
      <p:ext uri="{BB962C8B-B14F-4D97-AF65-F5344CB8AC3E}">
        <p14:creationId xmlns:p14="http://schemas.microsoft.com/office/powerpoint/2010/main" val="4094377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US" dirty="0"/>
          </a:p>
        </p:txBody>
      </p:sp>
      <p:sp>
        <p:nvSpPr>
          <p:cNvPr id="3" name="Text Placeholder 2"/>
          <p:cNvSpPr>
            <a:spLocks noGrp="1"/>
          </p:cNvSpPr>
          <p:nvPr>
            <p:ph type="body" idx="1"/>
          </p:nvPr>
        </p:nvSpPr>
        <p:spPr>
          <a:xfrm>
            <a:off x="1247775" y="6884196"/>
            <a:ext cx="15773400" cy="2250281"/>
          </a:xfrm>
        </p:spPr>
        <p:txBody>
          <a:bodyPr/>
          <a:lstStyle>
            <a:lvl1pPr marL="0" indent="0">
              <a:buNone/>
              <a:defRPr sz="3600">
                <a:solidFill>
                  <a:srgbClr val="E7CCAB"/>
                </a:solidFill>
                <a:latin typeface="DigiKey Artex" pitchFamily="50" charset="0"/>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A84BC6D-3EAE-40DF-847C-23CBE1DB33D0}"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1AA43-964B-4820-B5DE-998938735070}" type="slidenum">
              <a:rPr lang="en-US" smtClean="0"/>
              <a:t>‹#›</a:t>
            </a:fld>
            <a:endParaRPr lang="en-US"/>
          </a:p>
        </p:txBody>
      </p:sp>
    </p:spTree>
    <p:extLst>
      <p:ext uri="{BB962C8B-B14F-4D97-AF65-F5344CB8AC3E}">
        <p14:creationId xmlns:p14="http://schemas.microsoft.com/office/powerpoint/2010/main" val="875183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738438"/>
            <a:ext cx="7772400" cy="6527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738438"/>
            <a:ext cx="7772400" cy="6527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84BC6D-3EAE-40DF-847C-23CBE1DB33D0}"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D1AA43-964B-4820-B5DE-998938735070}" type="slidenum">
              <a:rPr lang="en-US" smtClean="0"/>
              <a:t>‹#›</a:t>
            </a:fld>
            <a:endParaRPr lang="en-US"/>
          </a:p>
        </p:txBody>
      </p:sp>
    </p:spTree>
    <p:extLst>
      <p:ext uri="{BB962C8B-B14F-4D97-AF65-F5344CB8AC3E}">
        <p14:creationId xmlns:p14="http://schemas.microsoft.com/office/powerpoint/2010/main" val="388413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3" y="547689"/>
            <a:ext cx="15773400" cy="198834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5" y="2521745"/>
            <a:ext cx="7736681" cy="1235868"/>
          </a:xfrm>
        </p:spPr>
        <p:txBody>
          <a:bodyPr anchor="b"/>
          <a:lstStyle>
            <a:lvl1pPr marL="0" indent="0">
              <a:buNone/>
              <a:defRPr sz="3600" b="1">
                <a:solidFill>
                  <a:srgbClr val="E7CCAB"/>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dirty="0"/>
              <a:t>Click to edit Master text styles</a:t>
            </a:r>
          </a:p>
        </p:txBody>
      </p:sp>
      <p:sp>
        <p:nvSpPr>
          <p:cNvPr id="4" name="Content Placeholder 3"/>
          <p:cNvSpPr>
            <a:spLocks noGrp="1"/>
          </p:cNvSpPr>
          <p:nvPr>
            <p:ph sz="half" idx="2"/>
          </p:nvPr>
        </p:nvSpPr>
        <p:spPr>
          <a:xfrm>
            <a:off x="1259685" y="3757612"/>
            <a:ext cx="7736681" cy="55268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9258300" y="2521745"/>
            <a:ext cx="7774783" cy="1235868"/>
          </a:xfrm>
        </p:spPr>
        <p:txBody>
          <a:bodyPr anchor="b"/>
          <a:lstStyle>
            <a:lvl1pPr marL="0" indent="0">
              <a:buNone/>
              <a:defRPr sz="3600" b="1">
                <a:solidFill>
                  <a:srgbClr val="E7CCAB"/>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dirty="0"/>
              <a:t>Click to edit Master text styles</a:t>
            </a:r>
          </a:p>
        </p:txBody>
      </p:sp>
      <p:sp>
        <p:nvSpPr>
          <p:cNvPr id="6" name="Content Placeholder 5"/>
          <p:cNvSpPr>
            <a:spLocks noGrp="1"/>
          </p:cNvSpPr>
          <p:nvPr>
            <p:ph sz="quarter" idx="4"/>
          </p:nvPr>
        </p:nvSpPr>
        <p:spPr>
          <a:xfrm>
            <a:off x="9258300" y="3757612"/>
            <a:ext cx="7774783" cy="55268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84BC6D-3EAE-40DF-847C-23CBE1DB33D0}"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D1AA43-964B-4820-B5DE-998938735070}" type="slidenum">
              <a:rPr lang="en-US" smtClean="0"/>
              <a:t>‹#›</a:t>
            </a:fld>
            <a:endParaRPr lang="en-US"/>
          </a:p>
        </p:txBody>
      </p:sp>
    </p:spTree>
    <p:extLst>
      <p:ext uri="{BB962C8B-B14F-4D97-AF65-F5344CB8AC3E}">
        <p14:creationId xmlns:p14="http://schemas.microsoft.com/office/powerpoint/2010/main" val="842511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84BC6D-3EAE-40DF-847C-23CBE1DB33D0}"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D1AA43-964B-4820-B5DE-998938735070}" type="slidenum">
              <a:rPr lang="en-US" smtClean="0"/>
              <a:t>‹#›</a:t>
            </a:fld>
            <a:endParaRPr lang="en-US"/>
          </a:p>
        </p:txBody>
      </p:sp>
    </p:spTree>
    <p:extLst>
      <p:ext uri="{BB962C8B-B14F-4D97-AF65-F5344CB8AC3E}">
        <p14:creationId xmlns:p14="http://schemas.microsoft.com/office/powerpoint/2010/main" val="263333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84BC6D-3EAE-40DF-847C-23CBE1DB33D0}"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D1AA43-964B-4820-B5DE-998938735070}" type="slidenum">
              <a:rPr lang="en-US" smtClean="0"/>
              <a:t>‹#›</a:t>
            </a:fld>
            <a:endParaRPr lang="en-US"/>
          </a:p>
        </p:txBody>
      </p:sp>
    </p:spTree>
    <p:extLst>
      <p:ext uri="{BB962C8B-B14F-4D97-AF65-F5344CB8AC3E}">
        <p14:creationId xmlns:p14="http://schemas.microsoft.com/office/powerpoint/2010/main" val="828362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74783" y="1481139"/>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3086100"/>
            <a:ext cx="5898356" cy="5717383"/>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EA84BC6D-3EAE-40DF-847C-23CBE1DB33D0}"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D1AA43-964B-4820-B5DE-998938735070}" type="slidenum">
              <a:rPr lang="en-US" smtClean="0"/>
              <a:t>‹#›</a:t>
            </a:fld>
            <a:endParaRPr lang="en-US"/>
          </a:p>
        </p:txBody>
      </p:sp>
    </p:spTree>
    <p:extLst>
      <p:ext uri="{BB962C8B-B14F-4D97-AF65-F5344CB8AC3E}">
        <p14:creationId xmlns:p14="http://schemas.microsoft.com/office/powerpoint/2010/main" val="32154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3" y="1481139"/>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59683" y="3086100"/>
            <a:ext cx="5898356" cy="5717383"/>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EA84BC6D-3EAE-40DF-847C-23CBE1DB33D0}"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D1AA43-964B-4820-B5DE-998938735070}" type="slidenum">
              <a:rPr lang="en-US" smtClean="0"/>
              <a:t>‹#›</a:t>
            </a:fld>
            <a:endParaRPr lang="en-US"/>
          </a:p>
        </p:txBody>
      </p:sp>
    </p:spTree>
    <p:extLst>
      <p:ext uri="{BB962C8B-B14F-4D97-AF65-F5344CB8AC3E}">
        <p14:creationId xmlns:p14="http://schemas.microsoft.com/office/powerpoint/2010/main" val="2578210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84BC6D-3EAE-40DF-847C-23CBE1DB33D0}"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1AA43-964B-4820-B5DE-998938735070}" type="slidenum">
              <a:rPr lang="en-US" smtClean="0"/>
              <a:t>‹#›</a:t>
            </a:fld>
            <a:endParaRPr lang="en-US"/>
          </a:p>
        </p:txBody>
      </p:sp>
    </p:spTree>
    <p:extLst>
      <p:ext uri="{BB962C8B-B14F-4D97-AF65-F5344CB8AC3E}">
        <p14:creationId xmlns:p14="http://schemas.microsoft.com/office/powerpoint/2010/main" val="3890549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9"/>
            <a:ext cx="3943350" cy="871775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547689"/>
            <a:ext cx="11601450" cy="871775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84BC6D-3EAE-40DF-847C-23CBE1DB33D0}"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D1AA43-964B-4820-B5DE-998938735070}" type="slidenum">
              <a:rPr lang="en-US" smtClean="0"/>
              <a:t>‹#›</a:t>
            </a:fld>
            <a:endParaRPr lang="en-US"/>
          </a:p>
        </p:txBody>
      </p:sp>
    </p:spTree>
    <p:extLst>
      <p:ext uri="{BB962C8B-B14F-4D97-AF65-F5344CB8AC3E}">
        <p14:creationId xmlns:p14="http://schemas.microsoft.com/office/powerpoint/2010/main" val="1054684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062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9"/>
            <a:ext cx="15773400" cy="198834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257300" y="2738438"/>
            <a:ext cx="15773400" cy="65270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bg1"/>
                </a:solidFill>
                <a:latin typeface="Roboto Mono" panose="00000009000000000000" pitchFamily="49" charset="0"/>
                <a:ea typeface="Roboto Mono" panose="00000009000000000000" pitchFamily="49" charset="0"/>
              </a:defRPr>
            </a:lvl1pPr>
          </a:lstStyle>
          <a:p>
            <a:fld id="{EA84BC6D-3EAE-40DF-847C-23CBE1DB33D0}" type="datetimeFigureOut">
              <a:rPr lang="en-US" smtClean="0"/>
              <a:pPr/>
              <a:t>8/10/2026</a:t>
            </a:fld>
            <a:endParaRPr lang="en-US" dirty="0"/>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bg1"/>
                </a:solidFill>
                <a:latin typeface="Roboto" panose="02000000000000000000" pitchFamily="2" charset="0"/>
                <a:ea typeface="Roboto" panose="02000000000000000000" pitchFamily="2" charset="0"/>
              </a:defRPr>
            </a:lvl1pPr>
          </a:lstStyle>
          <a:p>
            <a:endParaRPr lang="en-US" dirty="0"/>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bg1"/>
                </a:solidFill>
                <a:latin typeface="Roboto Mono" panose="00000009000000000000" pitchFamily="49" charset="0"/>
                <a:ea typeface="Roboto Mono" panose="00000009000000000000" pitchFamily="49" charset="0"/>
              </a:defRPr>
            </a:lvl1pPr>
          </a:lstStyle>
          <a:p>
            <a:fld id="{8BD1AA43-964B-4820-B5DE-998938735070}" type="slidenum">
              <a:rPr lang="en-US" smtClean="0"/>
              <a:pPr/>
              <a:t>‹#›</a:t>
            </a:fld>
            <a:endParaRPr lang="en-US" dirty="0"/>
          </a:p>
        </p:txBody>
      </p:sp>
    </p:spTree>
    <p:extLst>
      <p:ext uri="{BB962C8B-B14F-4D97-AF65-F5344CB8AC3E}">
        <p14:creationId xmlns:p14="http://schemas.microsoft.com/office/powerpoint/2010/main" val="3356108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90000"/>
        </a:lnSpc>
        <a:spcBef>
          <a:spcPct val="0"/>
        </a:spcBef>
        <a:buNone/>
        <a:defRPr sz="6600" kern="1200">
          <a:solidFill>
            <a:srgbClr val="FF2100"/>
          </a:solidFill>
          <a:latin typeface="DigiKey Artex" pitchFamily="50" charset="0"/>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bg1"/>
          </a:solidFill>
          <a:latin typeface="Roboto" panose="02000000000000000000" pitchFamily="2" charset="0"/>
          <a:ea typeface="Roboto" panose="02000000000000000000" pitchFamily="2" charset="0"/>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bg1"/>
          </a:solidFill>
          <a:latin typeface="Roboto" panose="02000000000000000000" pitchFamily="2" charset="0"/>
          <a:ea typeface="Roboto" panose="02000000000000000000" pitchFamily="2" charset="0"/>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bg1"/>
          </a:solidFill>
          <a:latin typeface="Roboto" panose="02000000000000000000" pitchFamily="2" charset="0"/>
          <a:ea typeface="Roboto" panose="02000000000000000000" pitchFamily="2" charset="0"/>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bg1"/>
          </a:solidFill>
          <a:latin typeface="Roboto" panose="02000000000000000000" pitchFamily="2" charset="0"/>
          <a:ea typeface="Roboto" panose="02000000000000000000" pitchFamily="2" charset="0"/>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bg1"/>
          </a:solidFill>
          <a:latin typeface="Roboto" panose="02000000000000000000" pitchFamily="2" charset="0"/>
          <a:ea typeface="Roboto" panose="02000000000000000000" pitchFamily="2" charset="0"/>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AD361-317F-9C01-ECE1-4147E19B1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28F0A-D18C-E9CD-43D7-3D91FE2A3594}"/>
              </a:ext>
            </a:extLst>
          </p:cNvPr>
          <p:cNvSpPr>
            <a:spLocks noGrp="1"/>
          </p:cNvSpPr>
          <p:nvPr>
            <p:ph type="ctrTitle"/>
          </p:nvPr>
        </p:nvSpPr>
        <p:spPr/>
        <p:txBody>
          <a:bodyPr/>
          <a:lstStyle/>
          <a:p>
            <a:pPr algn="ctr"/>
            <a:r>
              <a:rPr lang="en-US" dirty="0"/>
              <a:t>Reinforcement Learning for Robotics</a:t>
            </a:r>
          </a:p>
        </p:txBody>
      </p:sp>
      <p:sp>
        <p:nvSpPr>
          <p:cNvPr id="3" name="Subtitle 2">
            <a:extLst>
              <a:ext uri="{FF2B5EF4-FFF2-40B4-BE49-F238E27FC236}">
                <a16:creationId xmlns:a16="http://schemas.microsoft.com/office/drawing/2014/main" id="{817585E6-BBC5-658D-5D37-88D2C661A0E4}"/>
              </a:ext>
            </a:extLst>
          </p:cNvPr>
          <p:cNvSpPr>
            <a:spLocks noGrp="1"/>
          </p:cNvSpPr>
          <p:nvPr>
            <p:ph type="subTitle" idx="1"/>
          </p:nvPr>
        </p:nvSpPr>
        <p:spPr>
          <a:xfrm>
            <a:off x="914490" y="6036895"/>
            <a:ext cx="16459020" cy="1463054"/>
          </a:xfrm>
        </p:spPr>
        <p:txBody>
          <a:bodyPr/>
          <a:lstStyle/>
          <a:p>
            <a:r>
              <a:rPr lang="en-US" dirty="0"/>
              <a:t>github.com/ShawnHymel/workshop-reinforcement-learning-for-robotics</a:t>
            </a:r>
          </a:p>
        </p:txBody>
      </p:sp>
      <p:pic>
        <p:nvPicPr>
          <p:cNvPr id="5" name="Picture 4">
            <a:extLst>
              <a:ext uri="{FF2B5EF4-FFF2-40B4-BE49-F238E27FC236}">
                <a16:creationId xmlns:a16="http://schemas.microsoft.com/office/drawing/2014/main" id="{FF00F99C-2311-8BA8-DCF4-F3047E32A0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79" y="8974366"/>
            <a:ext cx="3588642" cy="1003025"/>
          </a:xfrm>
          <a:prstGeom prst="rect">
            <a:avLst/>
          </a:prstGeom>
        </p:spPr>
      </p:pic>
      <p:pic>
        <p:nvPicPr>
          <p:cNvPr id="7" name="Picture 6">
            <a:extLst>
              <a:ext uri="{FF2B5EF4-FFF2-40B4-BE49-F238E27FC236}">
                <a16:creationId xmlns:a16="http://schemas.microsoft.com/office/drawing/2014/main" id="{9519D127-8B48-4BAD-DBDE-C040EA56B8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59120" y="8603455"/>
            <a:ext cx="1463054" cy="1463054"/>
          </a:xfrm>
          <a:prstGeom prst="rect">
            <a:avLst/>
          </a:prstGeom>
        </p:spPr>
      </p:pic>
    </p:spTree>
    <p:extLst>
      <p:ext uri="{BB962C8B-B14F-4D97-AF65-F5344CB8AC3E}">
        <p14:creationId xmlns:p14="http://schemas.microsoft.com/office/powerpoint/2010/main" val="3083887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14E47-6A10-FBDB-CEFA-985ADD15A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5F91D-BE35-6ECA-197F-4B0F9D5C9DD1}"/>
              </a:ext>
            </a:extLst>
          </p:cNvPr>
          <p:cNvSpPr>
            <a:spLocks noGrp="1"/>
          </p:cNvSpPr>
          <p:nvPr>
            <p:ph type="title"/>
          </p:nvPr>
        </p:nvSpPr>
        <p:spPr>
          <a:xfrm>
            <a:off x="1257300" y="0"/>
            <a:ext cx="15773400" cy="1988345"/>
          </a:xfrm>
        </p:spPr>
        <p:txBody>
          <a:bodyPr/>
          <a:lstStyle/>
          <a:p>
            <a:pPr algn="ctr"/>
            <a:r>
              <a:rPr lang="en-US" dirty="0"/>
              <a:t>Why Reinforcement Learning?</a:t>
            </a:r>
          </a:p>
        </p:txBody>
      </p:sp>
      <p:pic>
        <p:nvPicPr>
          <p:cNvPr id="4" name="Picture 3">
            <a:extLst>
              <a:ext uri="{FF2B5EF4-FFF2-40B4-BE49-F238E27FC236}">
                <a16:creationId xmlns:a16="http://schemas.microsoft.com/office/drawing/2014/main" id="{A902A0E6-59EB-BCEC-9536-50F1A11CBF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81341" y="5728302"/>
            <a:ext cx="5694939" cy="4010882"/>
          </a:xfrm>
          <a:prstGeom prst="rect">
            <a:avLst/>
          </a:prstGeom>
        </p:spPr>
      </p:pic>
      <p:pic>
        <p:nvPicPr>
          <p:cNvPr id="6" name="Picture 5">
            <a:extLst>
              <a:ext uri="{FF2B5EF4-FFF2-40B4-BE49-F238E27FC236}">
                <a16:creationId xmlns:a16="http://schemas.microsoft.com/office/drawing/2014/main" id="{1099974F-5A32-7D26-01F9-6721833C3A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81341" y="1485940"/>
            <a:ext cx="5694939" cy="4010520"/>
          </a:xfrm>
          <a:prstGeom prst="rect">
            <a:avLst/>
          </a:prstGeom>
        </p:spPr>
      </p:pic>
      <p:sp>
        <p:nvSpPr>
          <p:cNvPr id="7" name="TextBox 6">
            <a:extLst>
              <a:ext uri="{FF2B5EF4-FFF2-40B4-BE49-F238E27FC236}">
                <a16:creationId xmlns:a16="http://schemas.microsoft.com/office/drawing/2014/main" id="{508414D8-442F-F4C7-946C-CCD0B6E2B827}"/>
              </a:ext>
            </a:extLst>
          </p:cNvPr>
          <p:cNvSpPr txBox="1"/>
          <p:nvPr/>
        </p:nvSpPr>
        <p:spPr>
          <a:xfrm>
            <a:off x="10881341" y="9739184"/>
            <a:ext cx="5694939" cy="276999"/>
          </a:xfrm>
          <a:prstGeom prst="rect">
            <a:avLst/>
          </a:prstGeom>
          <a:noFill/>
        </p:spPr>
        <p:txBody>
          <a:bodyPr wrap="square" rtlCol="0">
            <a:spAutoFit/>
          </a:bodyPr>
          <a:lstStyle/>
          <a:p>
            <a:pPr algn="ctr"/>
            <a:r>
              <a:rPr lang="en-US" sz="1200" dirty="0">
                <a:solidFill>
                  <a:schemeClr val="bg1"/>
                </a:solidFill>
                <a:latin typeface="Roboto" panose="02000000000000000000" pitchFamily="2" charset="0"/>
                <a:ea typeface="Roboto" panose="02000000000000000000" pitchFamily="2" charset="0"/>
              </a:rPr>
              <a:t>“</a:t>
            </a:r>
            <a:r>
              <a:rPr lang="en-US" sz="1200" dirty="0" err="1">
                <a:solidFill>
                  <a:schemeClr val="bg1"/>
                </a:solidFill>
                <a:latin typeface="Roboto" panose="02000000000000000000" pitchFamily="2" charset="0"/>
                <a:ea typeface="Roboto" panose="02000000000000000000" pitchFamily="2" charset="0"/>
              </a:rPr>
              <a:t>SpotMini</a:t>
            </a:r>
            <a:r>
              <a:rPr lang="en-US" sz="1200" dirty="0">
                <a:solidFill>
                  <a:schemeClr val="bg1"/>
                </a:solidFill>
                <a:latin typeface="Roboto" panose="02000000000000000000" pitchFamily="2" charset="0"/>
                <a:ea typeface="Roboto" panose="02000000000000000000" pitchFamily="2" charset="0"/>
              </a:rPr>
              <a:t> prior to going on Centre Stage” by Web Summit, used under CC BY 2.0</a:t>
            </a:r>
          </a:p>
        </p:txBody>
      </p:sp>
      <p:sp>
        <p:nvSpPr>
          <p:cNvPr id="8" name="TextBox 7">
            <a:extLst>
              <a:ext uri="{FF2B5EF4-FFF2-40B4-BE49-F238E27FC236}">
                <a16:creationId xmlns:a16="http://schemas.microsoft.com/office/drawing/2014/main" id="{C2F79DF5-A464-940E-06CF-9B8561502927}"/>
              </a:ext>
            </a:extLst>
          </p:cNvPr>
          <p:cNvSpPr txBox="1"/>
          <p:nvPr/>
        </p:nvSpPr>
        <p:spPr>
          <a:xfrm>
            <a:off x="1097367" y="1709612"/>
            <a:ext cx="9329553" cy="8094524"/>
          </a:xfrm>
          <a:prstGeom prst="rect">
            <a:avLst/>
          </a:prstGeom>
          <a:noFill/>
        </p:spPr>
        <p:txBody>
          <a:bodyPr wrap="square" rtlCol="0">
            <a:spAutoFit/>
          </a:bodyPr>
          <a:lstStyle/>
          <a:p>
            <a:pPr>
              <a:spcAft>
                <a:spcPts val="1200"/>
              </a:spcAft>
            </a:pPr>
            <a:r>
              <a:rPr lang="en-US" sz="4000" dirty="0">
                <a:solidFill>
                  <a:schemeClr val="bg1"/>
                </a:solidFill>
                <a:latin typeface="Roboto" panose="02000000000000000000" pitchFamily="2" charset="0"/>
                <a:ea typeface="Roboto" panose="02000000000000000000" pitchFamily="2" charset="0"/>
              </a:rPr>
              <a:t>Pros:</a:t>
            </a:r>
          </a:p>
          <a:p>
            <a:pPr marL="685800" indent="-6858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Robust policies that can tackle new environments</a:t>
            </a:r>
          </a:p>
          <a:p>
            <a:pPr marL="685800" indent="-6858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Compute is front-loaded</a:t>
            </a:r>
          </a:p>
          <a:p>
            <a:pPr marL="685800" indent="-6858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Infer actions from human teachers/animators</a:t>
            </a:r>
          </a:p>
          <a:p>
            <a:pPr>
              <a:spcAft>
                <a:spcPts val="1200"/>
              </a:spcAft>
            </a:pPr>
            <a:r>
              <a:rPr lang="en-US" sz="4000" dirty="0">
                <a:solidFill>
                  <a:schemeClr val="bg1"/>
                </a:solidFill>
                <a:latin typeface="Roboto" panose="02000000000000000000" pitchFamily="2" charset="0"/>
                <a:ea typeface="Roboto" panose="02000000000000000000" pitchFamily="2" charset="0"/>
              </a:rPr>
              <a:t>Cons:</a:t>
            </a:r>
          </a:p>
          <a:p>
            <a:pPr marL="685800" indent="-6858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Non-deterministic (no guarantees)</a:t>
            </a:r>
          </a:p>
          <a:p>
            <a:pPr marL="685800" indent="-6858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Imprecise</a:t>
            </a:r>
          </a:p>
          <a:p>
            <a:pPr marL="685800" indent="-6858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Setup and simulation training time</a:t>
            </a:r>
          </a:p>
          <a:p>
            <a:pPr marL="685800" indent="-685800">
              <a:spcAft>
                <a:spcPts val="1200"/>
              </a:spcAft>
              <a:buFont typeface="Arial" panose="020B0604020202020204" pitchFamily="34" charset="0"/>
              <a:buChar char="•"/>
            </a:pPr>
            <a:endParaRPr lang="en-US" sz="4000"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42195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16CA9-4C19-7B4D-CDBF-42B4A5E7A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03E59E-474A-8F76-F6C9-520FB48D88FD}"/>
              </a:ext>
            </a:extLst>
          </p:cNvPr>
          <p:cNvSpPr>
            <a:spLocks noGrp="1"/>
          </p:cNvSpPr>
          <p:nvPr>
            <p:ph type="title"/>
          </p:nvPr>
        </p:nvSpPr>
        <p:spPr>
          <a:xfrm>
            <a:off x="1247775" y="4293393"/>
            <a:ext cx="15773400" cy="1700213"/>
          </a:xfrm>
        </p:spPr>
        <p:txBody>
          <a:bodyPr/>
          <a:lstStyle/>
          <a:p>
            <a:pPr algn="ctr"/>
            <a:r>
              <a:rPr lang="en-US" dirty="0"/>
              <a:t>Screen: Training Phase 1</a:t>
            </a:r>
          </a:p>
        </p:txBody>
      </p:sp>
    </p:spTree>
    <p:extLst>
      <p:ext uri="{BB962C8B-B14F-4D97-AF65-F5344CB8AC3E}">
        <p14:creationId xmlns:p14="http://schemas.microsoft.com/office/powerpoint/2010/main" val="3546823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3F74B-C38C-E23C-92AC-FEA18AAD13E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DBDFE45-D2DE-C5E6-BB6A-EEC51D62AE1C}"/>
              </a:ext>
            </a:extLst>
          </p:cNvPr>
          <p:cNvSpPr>
            <a:spLocks noGrp="1"/>
          </p:cNvSpPr>
          <p:nvPr>
            <p:ph type="title"/>
          </p:nvPr>
        </p:nvSpPr>
        <p:spPr>
          <a:xfrm>
            <a:off x="1257300" y="0"/>
            <a:ext cx="15773400" cy="1988345"/>
          </a:xfrm>
        </p:spPr>
        <p:txBody>
          <a:bodyPr/>
          <a:lstStyle/>
          <a:p>
            <a:pPr algn="ctr"/>
            <a:r>
              <a:rPr lang="en-US" dirty="0"/>
              <a:t>CAD to Simulator</a:t>
            </a:r>
          </a:p>
        </p:txBody>
      </p:sp>
      <p:sp>
        <p:nvSpPr>
          <p:cNvPr id="10" name="Cube 9">
            <a:extLst>
              <a:ext uri="{FF2B5EF4-FFF2-40B4-BE49-F238E27FC236}">
                <a16:creationId xmlns:a16="http://schemas.microsoft.com/office/drawing/2014/main" id="{A0D21A45-460C-322A-347B-511DEB0ED8D2}"/>
              </a:ext>
            </a:extLst>
          </p:cNvPr>
          <p:cNvSpPr/>
          <p:nvPr/>
        </p:nvSpPr>
        <p:spPr>
          <a:xfrm>
            <a:off x="9273811" y="1760258"/>
            <a:ext cx="914390" cy="914390"/>
          </a:xfrm>
          <a:prstGeom prst="cube">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15" name="Cylinder 14">
            <a:extLst>
              <a:ext uri="{FF2B5EF4-FFF2-40B4-BE49-F238E27FC236}">
                <a16:creationId xmlns:a16="http://schemas.microsoft.com/office/drawing/2014/main" id="{CD5F1FB0-8A6D-76F2-7A7F-6C4BA8425817}"/>
              </a:ext>
            </a:extLst>
          </p:cNvPr>
          <p:cNvSpPr/>
          <p:nvPr/>
        </p:nvSpPr>
        <p:spPr>
          <a:xfrm>
            <a:off x="7719348" y="3556902"/>
            <a:ext cx="914390" cy="640073"/>
          </a:xfrm>
          <a:prstGeom prst="can">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16" name="Cylinder 15">
            <a:extLst>
              <a:ext uri="{FF2B5EF4-FFF2-40B4-BE49-F238E27FC236}">
                <a16:creationId xmlns:a16="http://schemas.microsoft.com/office/drawing/2014/main" id="{F7A81FEA-D2D8-725C-8D3B-CC229AF9D551}"/>
              </a:ext>
            </a:extLst>
          </p:cNvPr>
          <p:cNvSpPr/>
          <p:nvPr/>
        </p:nvSpPr>
        <p:spPr>
          <a:xfrm>
            <a:off x="10645398" y="3556902"/>
            <a:ext cx="914390" cy="640073"/>
          </a:xfrm>
          <a:prstGeom prst="can">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17" name="TextBox 16">
            <a:extLst>
              <a:ext uri="{FF2B5EF4-FFF2-40B4-BE49-F238E27FC236}">
                <a16:creationId xmlns:a16="http://schemas.microsoft.com/office/drawing/2014/main" id="{45A378B5-0574-8B01-E407-48D64702DAED}"/>
              </a:ext>
            </a:extLst>
          </p:cNvPr>
          <p:cNvSpPr txBox="1"/>
          <p:nvPr/>
        </p:nvSpPr>
        <p:spPr>
          <a:xfrm>
            <a:off x="8267982" y="2833933"/>
            <a:ext cx="2926048" cy="584775"/>
          </a:xfrm>
          <a:prstGeom prst="rect">
            <a:avLst/>
          </a:prstGeom>
          <a:noFill/>
        </p:spPr>
        <p:txBody>
          <a:bodyPr wrap="square" rtlCol="0">
            <a:spAutoFit/>
          </a:bodyPr>
          <a:lstStyle/>
          <a:p>
            <a:pPr algn="ctr"/>
            <a:r>
              <a:rPr lang="en-US" sz="3200" dirty="0" err="1">
                <a:solidFill>
                  <a:schemeClr val="bg1"/>
                </a:solidFill>
                <a:latin typeface="Roboto" panose="02000000000000000000" pitchFamily="2" charset="0"/>
                <a:ea typeface="Roboto" panose="02000000000000000000" pitchFamily="2" charset="0"/>
              </a:rPr>
              <a:t>chassis.stl</a:t>
            </a:r>
            <a:endParaRPr lang="en-US" sz="3200" dirty="0">
              <a:solidFill>
                <a:schemeClr val="bg1"/>
              </a:solidFill>
              <a:latin typeface="Roboto" panose="02000000000000000000" pitchFamily="2" charset="0"/>
              <a:ea typeface="Roboto" panose="02000000000000000000" pitchFamily="2" charset="0"/>
            </a:endParaRPr>
          </a:p>
        </p:txBody>
      </p:sp>
      <p:sp>
        <p:nvSpPr>
          <p:cNvPr id="18" name="TextBox 17">
            <a:extLst>
              <a:ext uri="{FF2B5EF4-FFF2-40B4-BE49-F238E27FC236}">
                <a16:creationId xmlns:a16="http://schemas.microsoft.com/office/drawing/2014/main" id="{14DBFD90-04AC-B146-EA17-B8067B499FD5}"/>
              </a:ext>
            </a:extLst>
          </p:cNvPr>
          <p:cNvSpPr txBox="1"/>
          <p:nvPr/>
        </p:nvSpPr>
        <p:spPr>
          <a:xfrm>
            <a:off x="6713519" y="4330637"/>
            <a:ext cx="2926048" cy="584775"/>
          </a:xfrm>
          <a:prstGeom prst="rect">
            <a:avLst/>
          </a:prstGeom>
          <a:noFill/>
        </p:spPr>
        <p:txBody>
          <a:bodyPr wrap="square" rtlCol="0">
            <a:spAutoFit/>
          </a:bodyPr>
          <a:lstStyle/>
          <a:p>
            <a:pPr algn="ctr"/>
            <a:r>
              <a:rPr lang="en-US" sz="3200" dirty="0" err="1">
                <a:solidFill>
                  <a:schemeClr val="bg1"/>
                </a:solidFill>
                <a:latin typeface="Roboto" panose="02000000000000000000" pitchFamily="2" charset="0"/>
                <a:ea typeface="Roboto" panose="02000000000000000000" pitchFamily="2" charset="0"/>
              </a:rPr>
              <a:t>wheel_left.stl</a:t>
            </a:r>
            <a:endParaRPr lang="en-US" sz="3200" dirty="0">
              <a:solidFill>
                <a:schemeClr val="bg1"/>
              </a:solidFill>
              <a:latin typeface="Roboto" panose="02000000000000000000" pitchFamily="2" charset="0"/>
              <a:ea typeface="Roboto" panose="02000000000000000000" pitchFamily="2" charset="0"/>
            </a:endParaRPr>
          </a:p>
        </p:txBody>
      </p:sp>
      <p:sp>
        <p:nvSpPr>
          <p:cNvPr id="19" name="TextBox 18">
            <a:extLst>
              <a:ext uri="{FF2B5EF4-FFF2-40B4-BE49-F238E27FC236}">
                <a16:creationId xmlns:a16="http://schemas.microsoft.com/office/drawing/2014/main" id="{EA60D330-963B-B8E5-FC25-EA8E580E14BA}"/>
              </a:ext>
            </a:extLst>
          </p:cNvPr>
          <p:cNvSpPr txBox="1"/>
          <p:nvPr/>
        </p:nvSpPr>
        <p:spPr>
          <a:xfrm>
            <a:off x="9639569" y="4338534"/>
            <a:ext cx="2926048" cy="584775"/>
          </a:xfrm>
          <a:prstGeom prst="rect">
            <a:avLst/>
          </a:prstGeom>
          <a:noFill/>
        </p:spPr>
        <p:txBody>
          <a:bodyPr wrap="square" rtlCol="0">
            <a:spAutoFit/>
          </a:bodyPr>
          <a:lstStyle/>
          <a:p>
            <a:pPr algn="ctr"/>
            <a:r>
              <a:rPr lang="en-US" sz="3200" dirty="0" err="1">
                <a:solidFill>
                  <a:schemeClr val="bg1"/>
                </a:solidFill>
                <a:latin typeface="Roboto" panose="02000000000000000000" pitchFamily="2" charset="0"/>
                <a:ea typeface="Roboto" panose="02000000000000000000" pitchFamily="2" charset="0"/>
              </a:rPr>
              <a:t>wheel_right.stl</a:t>
            </a:r>
            <a:endParaRPr lang="en-US" sz="3200" dirty="0">
              <a:solidFill>
                <a:schemeClr val="bg1"/>
              </a:solidFill>
              <a:latin typeface="Roboto" panose="02000000000000000000" pitchFamily="2" charset="0"/>
              <a:ea typeface="Roboto" panose="02000000000000000000" pitchFamily="2" charset="0"/>
            </a:endParaRPr>
          </a:p>
        </p:txBody>
      </p:sp>
      <p:grpSp>
        <p:nvGrpSpPr>
          <p:cNvPr id="42" name="Group 41">
            <a:extLst>
              <a:ext uri="{FF2B5EF4-FFF2-40B4-BE49-F238E27FC236}">
                <a16:creationId xmlns:a16="http://schemas.microsoft.com/office/drawing/2014/main" id="{8EB08ED5-5295-07A0-9CA2-33DB60630ACC}"/>
              </a:ext>
            </a:extLst>
          </p:cNvPr>
          <p:cNvGrpSpPr/>
          <p:nvPr/>
        </p:nvGrpSpPr>
        <p:grpSpPr>
          <a:xfrm>
            <a:off x="8496579" y="6423645"/>
            <a:ext cx="2468854" cy="3087472"/>
            <a:chOff x="8686805" y="5805026"/>
            <a:chExt cx="2468854" cy="3087473"/>
          </a:xfrm>
        </p:grpSpPr>
        <p:sp>
          <p:nvSpPr>
            <p:cNvPr id="20" name="Rectangle: Folded Corner 19">
              <a:extLst>
                <a:ext uri="{FF2B5EF4-FFF2-40B4-BE49-F238E27FC236}">
                  <a16:creationId xmlns:a16="http://schemas.microsoft.com/office/drawing/2014/main" id="{9D16D50E-0EBE-E5CF-E0C7-C5375CB00C7B}"/>
                </a:ext>
              </a:extLst>
            </p:cNvPr>
            <p:cNvSpPr/>
            <p:nvPr/>
          </p:nvSpPr>
          <p:spPr>
            <a:xfrm>
              <a:off x="8686806" y="5805026"/>
              <a:ext cx="2468853" cy="3087473"/>
            </a:xfrm>
            <a:prstGeom prst="foldedCorner">
              <a:avLst>
                <a:gd name="adj" fmla="val 19060"/>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27" name="TextBox 26">
              <a:extLst>
                <a:ext uri="{FF2B5EF4-FFF2-40B4-BE49-F238E27FC236}">
                  <a16:creationId xmlns:a16="http://schemas.microsoft.com/office/drawing/2014/main" id="{09F23D4B-3AE0-B2F3-4242-8404AADBBA5A}"/>
                </a:ext>
              </a:extLst>
            </p:cNvPr>
            <p:cNvSpPr txBox="1"/>
            <p:nvPr/>
          </p:nvSpPr>
          <p:spPr>
            <a:xfrm>
              <a:off x="8686805" y="5843061"/>
              <a:ext cx="2468853" cy="1077218"/>
            </a:xfrm>
            <a:prstGeom prst="rect">
              <a:avLst/>
            </a:prstGeom>
            <a:noFill/>
          </p:spPr>
          <p:txBody>
            <a:bodyPr wrap="square" rtlCol="0">
              <a:spAutoFit/>
            </a:bodyPr>
            <a:lstStyle/>
            <a:p>
              <a:pPr algn="ctr"/>
              <a:r>
                <a:rPr lang="en-US" sz="3200" dirty="0">
                  <a:solidFill>
                    <a:schemeClr val="bg1"/>
                  </a:solidFill>
                  <a:latin typeface="Roboto" panose="02000000000000000000" pitchFamily="2" charset="0"/>
                  <a:ea typeface="Roboto" panose="02000000000000000000" pitchFamily="2" charset="0"/>
                </a:rPr>
                <a:t>URDF or </a:t>
              </a:r>
            </a:p>
            <a:p>
              <a:pPr algn="ctr"/>
              <a:r>
                <a:rPr lang="en-US" sz="3200" dirty="0">
                  <a:solidFill>
                    <a:schemeClr val="bg1"/>
                  </a:solidFill>
                  <a:latin typeface="Roboto" panose="02000000000000000000" pitchFamily="2" charset="0"/>
                  <a:ea typeface="Roboto" panose="02000000000000000000" pitchFamily="2" charset="0"/>
                </a:rPr>
                <a:t>MJCF file</a:t>
              </a:r>
            </a:p>
          </p:txBody>
        </p:sp>
        <p:sp>
          <p:nvSpPr>
            <p:cNvPr id="28" name="TextBox 27">
              <a:extLst>
                <a:ext uri="{FF2B5EF4-FFF2-40B4-BE49-F238E27FC236}">
                  <a16:creationId xmlns:a16="http://schemas.microsoft.com/office/drawing/2014/main" id="{120A2037-A255-30FA-94D0-39BB7769E957}"/>
                </a:ext>
              </a:extLst>
            </p:cNvPr>
            <p:cNvSpPr txBox="1"/>
            <p:nvPr/>
          </p:nvSpPr>
          <p:spPr>
            <a:xfrm>
              <a:off x="8686805" y="7206227"/>
              <a:ext cx="2468853" cy="1077218"/>
            </a:xfrm>
            <a:prstGeom prst="rect">
              <a:avLst/>
            </a:prstGeom>
            <a:noFill/>
          </p:spPr>
          <p:txBody>
            <a:bodyPr wrap="square" rtlCol="0">
              <a:spAutoFit/>
            </a:bodyPr>
            <a:lstStyle/>
            <a:p>
              <a:pPr algn="ctr"/>
              <a:r>
                <a:rPr lang="en-US" sz="3200" dirty="0">
                  <a:solidFill>
                    <a:schemeClr val="bg1"/>
                  </a:solidFill>
                  <a:latin typeface="Roboto" panose="02000000000000000000" pitchFamily="2" charset="0"/>
                  <a:ea typeface="Roboto" panose="02000000000000000000" pitchFamily="2" charset="0"/>
                </a:rPr>
                <a:t>XML descriptor</a:t>
              </a:r>
            </a:p>
          </p:txBody>
        </p:sp>
      </p:grpSp>
      <p:cxnSp>
        <p:nvCxnSpPr>
          <p:cNvPr id="44" name="Straight Arrow Connector 43">
            <a:extLst>
              <a:ext uri="{FF2B5EF4-FFF2-40B4-BE49-F238E27FC236}">
                <a16:creationId xmlns:a16="http://schemas.microsoft.com/office/drawing/2014/main" id="{5432794A-ADB4-9328-1986-CB4A296DF0EF}"/>
              </a:ext>
            </a:extLst>
          </p:cNvPr>
          <p:cNvCxnSpPr>
            <a:cxnSpLocks/>
          </p:cNvCxnSpPr>
          <p:nvPr/>
        </p:nvCxnSpPr>
        <p:spPr>
          <a:xfrm>
            <a:off x="5049119" y="5761001"/>
            <a:ext cx="3136038" cy="1660929"/>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F114839-8B95-06B5-8A5A-4F6F7F0B157D}"/>
              </a:ext>
            </a:extLst>
          </p:cNvPr>
          <p:cNvSpPr txBox="1"/>
          <p:nvPr/>
        </p:nvSpPr>
        <p:spPr>
          <a:xfrm>
            <a:off x="4576927" y="7000290"/>
            <a:ext cx="2926048" cy="1569660"/>
          </a:xfrm>
          <a:prstGeom prst="rect">
            <a:avLst/>
          </a:prstGeom>
          <a:noFill/>
        </p:spPr>
        <p:txBody>
          <a:bodyPr wrap="square" rtlCol="0">
            <a:spAutoFit/>
          </a:bodyPr>
          <a:lstStyle/>
          <a:p>
            <a:pPr algn="ctr"/>
            <a:r>
              <a:rPr lang="en-US" sz="3200" dirty="0">
                <a:solidFill>
                  <a:schemeClr val="bg1"/>
                </a:solidFill>
                <a:latin typeface="Roboto" panose="02000000000000000000" pitchFamily="2" charset="0"/>
                <a:ea typeface="Roboto" panose="02000000000000000000" pitchFamily="2" charset="0"/>
              </a:rPr>
              <a:t>Mass and inertia information</a:t>
            </a:r>
          </a:p>
        </p:txBody>
      </p:sp>
      <p:sp>
        <p:nvSpPr>
          <p:cNvPr id="46" name="TextBox 45">
            <a:extLst>
              <a:ext uri="{FF2B5EF4-FFF2-40B4-BE49-F238E27FC236}">
                <a16:creationId xmlns:a16="http://schemas.microsoft.com/office/drawing/2014/main" id="{C9628367-4B2C-4B80-3DB9-B7929FA2B629}"/>
              </a:ext>
            </a:extLst>
          </p:cNvPr>
          <p:cNvSpPr txBox="1"/>
          <p:nvPr/>
        </p:nvSpPr>
        <p:spPr>
          <a:xfrm>
            <a:off x="10013810" y="5169795"/>
            <a:ext cx="2926048" cy="1077218"/>
          </a:xfrm>
          <a:prstGeom prst="rect">
            <a:avLst/>
          </a:prstGeom>
          <a:noFill/>
        </p:spPr>
        <p:txBody>
          <a:bodyPr wrap="square" rtlCol="0">
            <a:spAutoFit/>
          </a:bodyPr>
          <a:lstStyle/>
          <a:p>
            <a:r>
              <a:rPr lang="en-US" sz="3200" dirty="0">
                <a:solidFill>
                  <a:schemeClr val="bg1"/>
                </a:solidFill>
                <a:latin typeface="Roboto" panose="02000000000000000000" pitchFamily="2" charset="0"/>
                <a:ea typeface="Roboto" panose="02000000000000000000" pitchFamily="2" charset="0"/>
              </a:rPr>
              <a:t>Reference mesh files</a:t>
            </a:r>
          </a:p>
        </p:txBody>
      </p:sp>
      <p:cxnSp>
        <p:nvCxnSpPr>
          <p:cNvPr id="47" name="Straight Arrow Connector 46">
            <a:extLst>
              <a:ext uri="{FF2B5EF4-FFF2-40B4-BE49-F238E27FC236}">
                <a16:creationId xmlns:a16="http://schemas.microsoft.com/office/drawing/2014/main" id="{250578C3-0D4D-53B4-D26B-85DCB86B6EBD}"/>
              </a:ext>
            </a:extLst>
          </p:cNvPr>
          <p:cNvCxnSpPr>
            <a:cxnSpLocks/>
          </p:cNvCxnSpPr>
          <p:nvPr/>
        </p:nvCxnSpPr>
        <p:spPr>
          <a:xfrm flipV="1">
            <a:off x="9731005" y="5052061"/>
            <a:ext cx="0" cy="1165395"/>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284988D-EB58-15A8-5B8F-F9D442D0758F}"/>
              </a:ext>
            </a:extLst>
          </p:cNvPr>
          <p:cNvCxnSpPr>
            <a:cxnSpLocks/>
          </p:cNvCxnSpPr>
          <p:nvPr/>
        </p:nvCxnSpPr>
        <p:spPr>
          <a:xfrm flipV="1">
            <a:off x="5049121" y="4196975"/>
            <a:ext cx="1710771" cy="677190"/>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71B718B6-49E6-F398-085F-291E200EEAFF}"/>
              </a:ext>
            </a:extLst>
          </p:cNvPr>
          <p:cNvSpPr txBox="1"/>
          <p:nvPr/>
        </p:nvSpPr>
        <p:spPr>
          <a:xfrm>
            <a:off x="4257572" y="3058655"/>
            <a:ext cx="2926048" cy="1077218"/>
          </a:xfrm>
          <a:prstGeom prst="rect">
            <a:avLst/>
          </a:prstGeom>
          <a:noFill/>
        </p:spPr>
        <p:txBody>
          <a:bodyPr wrap="square" rtlCol="0">
            <a:spAutoFit/>
          </a:bodyPr>
          <a:lstStyle/>
          <a:p>
            <a:pPr algn="ctr"/>
            <a:r>
              <a:rPr lang="en-US" sz="3200" dirty="0">
                <a:solidFill>
                  <a:schemeClr val="bg1"/>
                </a:solidFill>
                <a:latin typeface="Roboto" panose="02000000000000000000" pitchFamily="2" charset="0"/>
                <a:ea typeface="Roboto" panose="02000000000000000000" pitchFamily="2" charset="0"/>
              </a:rPr>
              <a:t>Export </a:t>
            </a:r>
          </a:p>
          <a:p>
            <a:pPr algn="ctr"/>
            <a:r>
              <a:rPr lang="en-US" sz="3200" dirty="0">
                <a:solidFill>
                  <a:schemeClr val="bg1"/>
                </a:solidFill>
                <a:latin typeface="Roboto" panose="02000000000000000000" pitchFamily="2" charset="0"/>
                <a:ea typeface="Roboto" panose="02000000000000000000" pitchFamily="2" charset="0"/>
              </a:rPr>
              <a:t>meshes</a:t>
            </a:r>
          </a:p>
        </p:txBody>
      </p:sp>
      <p:cxnSp>
        <p:nvCxnSpPr>
          <p:cNvPr id="58" name="Straight Arrow Connector 57">
            <a:extLst>
              <a:ext uri="{FF2B5EF4-FFF2-40B4-BE49-F238E27FC236}">
                <a16:creationId xmlns:a16="http://schemas.microsoft.com/office/drawing/2014/main" id="{5BBE40C9-6850-CD66-B207-F1E8B2990531}"/>
              </a:ext>
            </a:extLst>
          </p:cNvPr>
          <p:cNvCxnSpPr>
            <a:cxnSpLocks/>
          </p:cNvCxnSpPr>
          <p:nvPr/>
        </p:nvCxnSpPr>
        <p:spPr>
          <a:xfrm flipV="1">
            <a:off x="11285471" y="6212803"/>
            <a:ext cx="2073541" cy="1316416"/>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1F6500B-CBB0-9F17-6D5C-DFE3CBCCE66A}"/>
              </a:ext>
            </a:extLst>
          </p:cNvPr>
          <p:cNvSpPr txBox="1"/>
          <p:nvPr/>
        </p:nvSpPr>
        <p:spPr>
          <a:xfrm>
            <a:off x="11194030" y="7378425"/>
            <a:ext cx="2926048" cy="1077218"/>
          </a:xfrm>
          <a:prstGeom prst="rect">
            <a:avLst/>
          </a:prstGeom>
          <a:noFill/>
        </p:spPr>
        <p:txBody>
          <a:bodyPr wrap="square" rtlCol="0">
            <a:spAutoFit/>
          </a:bodyPr>
          <a:lstStyle/>
          <a:p>
            <a:pPr algn="ctr"/>
            <a:r>
              <a:rPr lang="en-US" sz="3200" dirty="0">
                <a:solidFill>
                  <a:schemeClr val="bg1"/>
                </a:solidFill>
                <a:latin typeface="Roboto" panose="02000000000000000000" pitchFamily="2" charset="0"/>
                <a:ea typeface="Roboto" panose="02000000000000000000" pitchFamily="2" charset="0"/>
              </a:rPr>
              <a:t>Import into simulator</a:t>
            </a:r>
          </a:p>
        </p:txBody>
      </p:sp>
      <p:grpSp>
        <p:nvGrpSpPr>
          <p:cNvPr id="75" name="Group 74">
            <a:extLst>
              <a:ext uri="{FF2B5EF4-FFF2-40B4-BE49-F238E27FC236}">
                <a16:creationId xmlns:a16="http://schemas.microsoft.com/office/drawing/2014/main" id="{64C90D79-7C23-00BF-9244-34305AD3EA52}"/>
              </a:ext>
            </a:extLst>
          </p:cNvPr>
          <p:cNvGrpSpPr/>
          <p:nvPr/>
        </p:nvGrpSpPr>
        <p:grpSpPr>
          <a:xfrm>
            <a:off x="13771714" y="2863206"/>
            <a:ext cx="4000004" cy="4005780"/>
            <a:chOff x="13771713" y="2863206"/>
            <a:chExt cx="4000004" cy="4005780"/>
          </a:xfrm>
        </p:grpSpPr>
        <p:sp>
          <p:nvSpPr>
            <p:cNvPr id="29" name="Rectangle: Rounded Corners 28">
              <a:extLst>
                <a:ext uri="{FF2B5EF4-FFF2-40B4-BE49-F238E27FC236}">
                  <a16:creationId xmlns:a16="http://schemas.microsoft.com/office/drawing/2014/main" id="{6814E0DA-6CEE-0635-2152-39155118F55E}"/>
                </a:ext>
              </a:extLst>
            </p:cNvPr>
            <p:cNvSpPr/>
            <p:nvPr/>
          </p:nvSpPr>
          <p:spPr>
            <a:xfrm>
              <a:off x="13771713" y="2868982"/>
              <a:ext cx="4000004" cy="4000004"/>
            </a:xfrm>
            <a:prstGeom prst="roundRect">
              <a:avLst>
                <a:gd name="adj" fmla="val 5104"/>
              </a:avLst>
            </a:prstGeom>
            <a:solidFill>
              <a:srgbClr val="D4D8FB"/>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30" name="Rectangle: Rounded Corners 29">
              <a:extLst>
                <a:ext uri="{FF2B5EF4-FFF2-40B4-BE49-F238E27FC236}">
                  <a16:creationId xmlns:a16="http://schemas.microsoft.com/office/drawing/2014/main" id="{FAC76F15-015B-937B-B944-A3DBE6EEBC3A}"/>
                </a:ext>
              </a:extLst>
            </p:cNvPr>
            <p:cNvSpPr/>
            <p:nvPr/>
          </p:nvSpPr>
          <p:spPr>
            <a:xfrm>
              <a:off x="13771713" y="2863206"/>
              <a:ext cx="4000004" cy="584775"/>
            </a:xfrm>
            <a:prstGeom prst="roundRect">
              <a:avLst>
                <a:gd name="adj" fmla="val 31165"/>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31" name="Rectangle: Rounded Corners 30">
              <a:extLst>
                <a:ext uri="{FF2B5EF4-FFF2-40B4-BE49-F238E27FC236}">
                  <a16:creationId xmlns:a16="http://schemas.microsoft.com/office/drawing/2014/main" id="{68218634-BCB1-C7E8-4F67-A43D82789C2B}"/>
                </a:ext>
              </a:extLst>
            </p:cNvPr>
            <p:cNvSpPr/>
            <p:nvPr/>
          </p:nvSpPr>
          <p:spPr>
            <a:xfrm>
              <a:off x="13771713" y="3131842"/>
              <a:ext cx="4000004" cy="323985"/>
            </a:xfrm>
            <a:prstGeom prst="roundRect">
              <a:avLst>
                <a:gd name="adj" fmla="val 0"/>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32" name="Cross 31">
              <a:extLst>
                <a:ext uri="{FF2B5EF4-FFF2-40B4-BE49-F238E27FC236}">
                  <a16:creationId xmlns:a16="http://schemas.microsoft.com/office/drawing/2014/main" id="{8C08B4BD-07C2-C803-4B70-005D0CEBF5ED}"/>
                </a:ext>
              </a:extLst>
            </p:cNvPr>
            <p:cNvSpPr/>
            <p:nvPr/>
          </p:nvSpPr>
          <p:spPr>
            <a:xfrm rot="2700000">
              <a:off x="17304622" y="3003040"/>
              <a:ext cx="305105" cy="305105"/>
            </a:xfrm>
            <a:prstGeom prst="plus">
              <a:avLst>
                <a:gd name="adj" fmla="val 4333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pic>
          <p:nvPicPr>
            <p:cNvPr id="41" name="Picture 40">
              <a:extLst>
                <a:ext uri="{FF2B5EF4-FFF2-40B4-BE49-F238E27FC236}">
                  <a16:creationId xmlns:a16="http://schemas.microsoft.com/office/drawing/2014/main" id="{2AA3D3AC-BA08-6C7C-0324-C9EE185EA9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56023" y="3718687"/>
              <a:ext cx="2831383" cy="2831383"/>
            </a:xfrm>
            <a:prstGeom prst="rect">
              <a:avLst/>
            </a:prstGeom>
          </p:spPr>
        </p:pic>
        <p:sp>
          <p:nvSpPr>
            <p:cNvPr id="61" name="TextBox 60">
              <a:extLst>
                <a:ext uri="{FF2B5EF4-FFF2-40B4-BE49-F238E27FC236}">
                  <a16:creationId xmlns:a16="http://schemas.microsoft.com/office/drawing/2014/main" id="{2283042F-E1E7-DFFB-CADF-B80BD1667F13}"/>
                </a:ext>
              </a:extLst>
            </p:cNvPr>
            <p:cNvSpPr txBox="1"/>
            <p:nvPr/>
          </p:nvSpPr>
          <p:spPr>
            <a:xfrm>
              <a:off x="13771713" y="2878629"/>
              <a:ext cx="4000003" cy="584775"/>
            </a:xfrm>
            <a:prstGeom prst="rect">
              <a:avLst/>
            </a:prstGeom>
            <a:noFill/>
          </p:spPr>
          <p:txBody>
            <a:bodyPr wrap="square" rtlCol="0">
              <a:spAutoFit/>
            </a:bodyPr>
            <a:lstStyle/>
            <a:p>
              <a:pPr algn="ctr"/>
              <a:r>
                <a:rPr lang="en-US" sz="3200" dirty="0">
                  <a:solidFill>
                    <a:schemeClr val="bg1"/>
                  </a:solidFill>
                  <a:latin typeface="Roboto" panose="02000000000000000000" pitchFamily="2" charset="0"/>
                  <a:ea typeface="Roboto" panose="02000000000000000000" pitchFamily="2" charset="0"/>
                </a:rPr>
                <a:t>Simulator</a:t>
              </a:r>
            </a:p>
          </p:txBody>
        </p:sp>
      </p:grpSp>
      <p:sp>
        <p:nvSpPr>
          <p:cNvPr id="62" name="TextBox 61">
            <a:extLst>
              <a:ext uri="{FF2B5EF4-FFF2-40B4-BE49-F238E27FC236}">
                <a16:creationId xmlns:a16="http://schemas.microsoft.com/office/drawing/2014/main" id="{D976C7E4-1482-3E1A-9A5E-470F0711ABB9}"/>
              </a:ext>
            </a:extLst>
          </p:cNvPr>
          <p:cNvSpPr txBox="1"/>
          <p:nvPr/>
        </p:nvSpPr>
        <p:spPr>
          <a:xfrm>
            <a:off x="14016535" y="6930208"/>
            <a:ext cx="3510358" cy="1077218"/>
          </a:xfrm>
          <a:prstGeom prst="rect">
            <a:avLst/>
          </a:prstGeom>
          <a:noFill/>
        </p:spPr>
        <p:txBody>
          <a:bodyPr wrap="square" rtlCol="0">
            <a:spAutoFit/>
          </a:bodyPr>
          <a:lstStyle/>
          <a:p>
            <a:pPr algn="ctr"/>
            <a:r>
              <a:rPr lang="en-US" sz="3200" dirty="0" err="1">
                <a:solidFill>
                  <a:schemeClr val="bg1"/>
                </a:solidFill>
                <a:latin typeface="Roboto" panose="02000000000000000000" pitchFamily="2" charset="0"/>
                <a:ea typeface="Roboto" panose="02000000000000000000" pitchFamily="2" charset="0"/>
              </a:rPr>
              <a:t>MuJoCo</a:t>
            </a:r>
            <a:r>
              <a:rPr lang="en-US" sz="3200" dirty="0">
                <a:solidFill>
                  <a:schemeClr val="bg1"/>
                </a:solidFill>
                <a:latin typeface="Roboto" panose="02000000000000000000" pitchFamily="2" charset="0"/>
                <a:ea typeface="Roboto" panose="02000000000000000000" pitchFamily="2" charset="0"/>
              </a:rPr>
              <a:t>, Gazebo, Isaac Sim, etc.</a:t>
            </a:r>
          </a:p>
        </p:txBody>
      </p:sp>
      <p:grpSp>
        <p:nvGrpSpPr>
          <p:cNvPr id="74" name="Group 73">
            <a:extLst>
              <a:ext uri="{FF2B5EF4-FFF2-40B4-BE49-F238E27FC236}">
                <a16:creationId xmlns:a16="http://schemas.microsoft.com/office/drawing/2014/main" id="{B10CE53A-190D-0625-946A-20C3FF8EED4F}"/>
              </a:ext>
            </a:extLst>
          </p:cNvPr>
          <p:cNvGrpSpPr/>
          <p:nvPr/>
        </p:nvGrpSpPr>
        <p:grpSpPr>
          <a:xfrm>
            <a:off x="572112" y="2863206"/>
            <a:ext cx="4000004" cy="4005780"/>
            <a:chOff x="572111" y="2863206"/>
            <a:chExt cx="4000004" cy="4005780"/>
          </a:xfrm>
        </p:grpSpPr>
        <p:sp>
          <p:nvSpPr>
            <p:cNvPr id="64" name="Rectangle: Rounded Corners 63">
              <a:extLst>
                <a:ext uri="{FF2B5EF4-FFF2-40B4-BE49-F238E27FC236}">
                  <a16:creationId xmlns:a16="http://schemas.microsoft.com/office/drawing/2014/main" id="{E07C5499-C434-ED50-ADB8-E85CCF1F6C81}"/>
                </a:ext>
              </a:extLst>
            </p:cNvPr>
            <p:cNvSpPr/>
            <p:nvPr/>
          </p:nvSpPr>
          <p:spPr>
            <a:xfrm>
              <a:off x="572111" y="2868982"/>
              <a:ext cx="4000004" cy="4000004"/>
            </a:xfrm>
            <a:prstGeom prst="roundRect">
              <a:avLst>
                <a:gd name="adj" fmla="val 5104"/>
              </a:avLst>
            </a:prstGeom>
            <a:solidFill>
              <a:srgbClr val="D4D8FB"/>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pic>
          <p:nvPicPr>
            <p:cNvPr id="72" name="Picture 71">
              <a:extLst>
                <a:ext uri="{FF2B5EF4-FFF2-40B4-BE49-F238E27FC236}">
                  <a16:creationId xmlns:a16="http://schemas.microsoft.com/office/drawing/2014/main" id="{C34D9003-468E-5642-284B-93BC745DD1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6421" y="3717519"/>
              <a:ext cx="2831383" cy="2831383"/>
            </a:xfrm>
            <a:prstGeom prst="rect">
              <a:avLst/>
            </a:prstGeom>
          </p:spPr>
        </p:pic>
        <p:sp>
          <p:nvSpPr>
            <p:cNvPr id="65" name="Rectangle: Rounded Corners 64">
              <a:extLst>
                <a:ext uri="{FF2B5EF4-FFF2-40B4-BE49-F238E27FC236}">
                  <a16:creationId xmlns:a16="http://schemas.microsoft.com/office/drawing/2014/main" id="{96180C29-02C7-B21E-FEB2-82A4427631A2}"/>
                </a:ext>
              </a:extLst>
            </p:cNvPr>
            <p:cNvSpPr/>
            <p:nvPr/>
          </p:nvSpPr>
          <p:spPr>
            <a:xfrm>
              <a:off x="572111" y="2863206"/>
              <a:ext cx="4000004" cy="584775"/>
            </a:xfrm>
            <a:prstGeom prst="roundRect">
              <a:avLst>
                <a:gd name="adj" fmla="val 31165"/>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66" name="Rectangle: Rounded Corners 65">
              <a:extLst>
                <a:ext uri="{FF2B5EF4-FFF2-40B4-BE49-F238E27FC236}">
                  <a16:creationId xmlns:a16="http://schemas.microsoft.com/office/drawing/2014/main" id="{F53372D9-910D-647C-667C-0CB9C70025C3}"/>
                </a:ext>
              </a:extLst>
            </p:cNvPr>
            <p:cNvSpPr/>
            <p:nvPr/>
          </p:nvSpPr>
          <p:spPr>
            <a:xfrm>
              <a:off x="572111" y="3131842"/>
              <a:ext cx="4000004" cy="323985"/>
            </a:xfrm>
            <a:prstGeom prst="roundRect">
              <a:avLst>
                <a:gd name="adj" fmla="val 0"/>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67" name="Cross 66">
              <a:extLst>
                <a:ext uri="{FF2B5EF4-FFF2-40B4-BE49-F238E27FC236}">
                  <a16:creationId xmlns:a16="http://schemas.microsoft.com/office/drawing/2014/main" id="{DA0C8BCD-05E3-B80E-6317-A53AFFF26F38}"/>
                </a:ext>
              </a:extLst>
            </p:cNvPr>
            <p:cNvSpPr/>
            <p:nvPr/>
          </p:nvSpPr>
          <p:spPr>
            <a:xfrm rot="2700000">
              <a:off x="4105020" y="3003040"/>
              <a:ext cx="305105" cy="305105"/>
            </a:xfrm>
            <a:prstGeom prst="plus">
              <a:avLst>
                <a:gd name="adj" fmla="val 4333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69" name="TextBox 68">
              <a:extLst>
                <a:ext uri="{FF2B5EF4-FFF2-40B4-BE49-F238E27FC236}">
                  <a16:creationId xmlns:a16="http://schemas.microsoft.com/office/drawing/2014/main" id="{B08A9C39-3B88-229B-A949-8F46EED0BD9A}"/>
                </a:ext>
              </a:extLst>
            </p:cNvPr>
            <p:cNvSpPr txBox="1"/>
            <p:nvPr/>
          </p:nvSpPr>
          <p:spPr>
            <a:xfrm>
              <a:off x="572111" y="2878629"/>
              <a:ext cx="4000003" cy="584775"/>
            </a:xfrm>
            <a:prstGeom prst="rect">
              <a:avLst/>
            </a:prstGeom>
            <a:noFill/>
          </p:spPr>
          <p:txBody>
            <a:bodyPr wrap="square" rtlCol="0">
              <a:spAutoFit/>
            </a:bodyPr>
            <a:lstStyle/>
            <a:p>
              <a:pPr algn="ctr"/>
              <a:r>
                <a:rPr lang="en-US" sz="3200" dirty="0">
                  <a:solidFill>
                    <a:schemeClr val="bg1"/>
                  </a:solidFill>
                  <a:latin typeface="Roboto" panose="02000000000000000000" pitchFamily="2" charset="0"/>
                  <a:ea typeface="Roboto" panose="02000000000000000000" pitchFamily="2" charset="0"/>
                </a:rPr>
                <a:t>CAD</a:t>
              </a:r>
            </a:p>
          </p:txBody>
        </p:sp>
      </p:grpSp>
      <p:sp>
        <p:nvSpPr>
          <p:cNvPr id="70" name="TextBox 69">
            <a:extLst>
              <a:ext uri="{FF2B5EF4-FFF2-40B4-BE49-F238E27FC236}">
                <a16:creationId xmlns:a16="http://schemas.microsoft.com/office/drawing/2014/main" id="{97400F90-31ED-9DB7-9533-4E1FF04EA2BC}"/>
              </a:ext>
            </a:extLst>
          </p:cNvPr>
          <p:cNvSpPr txBox="1"/>
          <p:nvPr/>
        </p:nvSpPr>
        <p:spPr>
          <a:xfrm>
            <a:off x="488615" y="6883320"/>
            <a:ext cx="4118763" cy="1077218"/>
          </a:xfrm>
          <a:prstGeom prst="rect">
            <a:avLst/>
          </a:prstGeom>
          <a:noFill/>
        </p:spPr>
        <p:txBody>
          <a:bodyPr wrap="square" rtlCol="0">
            <a:spAutoFit/>
          </a:bodyPr>
          <a:lstStyle/>
          <a:p>
            <a:pPr algn="ctr"/>
            <a:r>
              <a:rPr lang="en-US" sz="3200" dirty="0" err="1">
                <a:solidFill>
                  <a:schemeClr val="bg1"/>
                </a:solidFill>
                <a:latin typeface="Roboto" panose="02000000000000000000" pitchFamily="2" charset="0"/>
                <a:ea typeface="Roboto" panose="02000000000000000000" pitchFamily="2" charset="0"/>
              </a:rPr>
              <a:t>FreeCAD</a:t>
            </a:r>
            <a:r>
              <a:rPr lang="en-US" sz="3200" dirty="0">
                <a:solidFill>
                  <a:schemeClr val="bg1"/>
                </a:solidFill>
                <a:latin typeface="Roboto" panose="02000000000000000000" pitchFamily="2" charset="0"/>
                <a:ea typeface="Roboto" panose="02000000000000000000" pitchFamily="2" charset="0"/>
              </a:rPr>
              <a:t>, Fusion 360, SolidWorks, etc.</a:t>
            </a:r>
          </a:p>
        </p:txBody>
      </p:sp>
    </p:spTree>
    <p:extLst>
      <p:ext uri="{BB962C8B-B14F-4D97-AF65-F5344CB8AC3E}">
        <p14:creationId xmlns:p14="http://schemas.microsoft.com/office/powerpoint/2010/main" val="1903532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BBBD7-AD60-60DF-C640-08938578A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9978D-5172-53D5-D09D-BD8A1EC6F0C5}"/>
              </a:ext>
            </a:extLst>
          </p:cNvPr>
          <p:cNvSpPr>
            <a:spLocks noGrp="1"/>
          </p:cNvSpPr>
          <p:nvPr>
            <p:ph type="title"/>
          </p:nvPr>
        </p:nvSpPr>
        <p:spPr>
          <a:xfrm>
            <a:off x="1247775" y="4293393"/>
            <a:ext cx="15773400" cy="1700213"/>
          </a:xfrm>
        </p:spPr>
        <p:txBody>
          <a:bodyPr/>
          <a:lstStyle/>
          <a:p>
            <a:pPr algn="ctr"/>
            <a:r>
              <a:rPr lang="en-US" dirty="0"/>
              <a:t>Screen: </a:t>
            </a:r>
            <a:r>
              <a:rPr lang="en-US" dirty="0" err="1"/>
              <a:t>FreeCAD</a:t>
            </a:r>
            <a:r>
              <a:rPr lang="en-US" dirty="0"/>
              <a:t> and MJCF</a:t>
            </a:r>
          </a:p>
        </p:txBody>
      </p:sp>
    </p:spTree>
    <p:extLst>
      <p:ext uri="{BB962C8B-B14F-4D97-AF65-F5344CB8AC3E}">
        <p14:creationId xmlns:p14="http://schemas.microsoft.com/office/powerpoint/2010/main" val="19494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9AE80-F4CC-6AE6-B1B9-5F3148FA2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401AB-56D9-E274-B4A8-B275CB663C3F}"/>
              </a:ext>
            </a:extLst>
          </p:cNvPr>
          <p:cNvSpPr>
            <a:spLocks noGrp="1"/>
          </p:cNvSpPr>
          <p:nvPr>
            <p:ph type="title"/>
          </p:nvPr>
        </p:nvSpPr>
        <p:spPr>
          <a:xfrm>
            <a:off x="1247775" y="4293393"/>
            <a:ext cx="15773400" cy="1700213"/>
          </a:xfrm>
        </p:spPr>
        <p:txBody>
          <a:bodyPr/>
          <a:lstStyle/>
          <a:p>
            <a:pPr algn="ctr"/>
            <a:r>
              <a:rPr lang="en-US" dirty="0"/>
              <a:t>Screen: Training Phase 2</a:t>
            </a:r>
          </a:p>
        </p:txBody>
      </p:sp>
    </p:spTree>
    <p:extLst>
      <p:ext uri="{BB962C8B-B14F-4D97-AF65-F5344CB8AC3E}">
        <p14:creationId xmlns:p14="http://schemas.microsoft.com/office/powerpoint/2010/main" val="3404297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reeform: Shape 62">
            <a:extLst>
              <a:ext uri="{FF2B5EF4-FFF2-40B4-BE49-F238E27FC236}">
                <a16:creationId xmlns:a16="http://schemas.microsoft.com/office/drawing/2014/main" id="{8F4354CE-2F99-0242-F244-0C9B6661973A}"/>
              </a:ext>
            </a:extLst>
          </p:cNvPr>
          <p:cNvSpPr/>
          <p:nvPr/>
        </p:nvSpPr>
        <p:spPr>
          <a:xfrm>
            <a:off x="915132" y="1851696"/>
            <a:ext cx="16461537" cy="7222991"/>
          </a:xfrm>
          <a:custGeom>
            <a:avLst/>
            <a:gdLst>
              <a:gd name="csX0" fmla="*/ 16623323 w 16810892"/>
              <a:gd name="csY0" fmla="*/ 93785 h 7831015"/>
              <a:gd name="csX1" fmla="*/ 0 w 16810892"/>
              <a:gd name="csY1" fmla="*/ 0 h 7831015"/>
              <a:gd name="csX2" fmla="*/ 93784 w 16810892"/>
              <a:gd name="csY2" fmla="*/ 7831015 h 7831015"/>
              <a:gd name="csX3" fmla="*/ 5416061 w 16810892"/>
              <a:gd name="csY3" fmla="*/ 7713785 h 7831015"/>
              <a:gd name="csX4" fmla="*/ 7690338 w 16810892"/>
              <a:gd name="csY4" fmla="*/ 5322277 h 7831015"/>
              <a:gd name="csX5" fmla="*/ 16810892 w 16810892"/>
              <a:gd name="csY5" fmla="*/ 5509846 h 7831015"/>
              <a:gd name="csX6" fmla="*/ 16670215 w 16810892"/>
              <a:gd name="csY6" fmla="*/ 492369 h 7831015"/>
              <a:gd name="csX0" fmla="*/ 16623323 w 16810892"/>
              <a:gd name="csY0" fmla="*/ 93785 h 7831015"/>
              <a:gd name="csX1" fmla="*/ 0 w 16810892"/>
              <a:gd name="csY1" fmla="*/ 0 h 7831015"/>
              <a:gd name="csX2" fmla="*/ 93784 w 16810892"/>
              <a:gd name="csY2" fmla="*/ 7831015 h 7831015"/>
              <a:gd name="csX3" fmla="*/ 5416061 w 16810892"/>
              <a:gd name="csY3" fmla="*/ 7713785 h 7831015"/>
              <a:gd name="csX4" fmla="*/ 7690338 w 16810892"/>
              <a:gd name="csY4" fmla="*/ 5322277 h 7831015"/>
              <a:gd name="csX5" fmla="*/ 16810892 w 16810892"/>
              <a:gd name="csY5" fmla="*/ 5509846 h 7831015"/>
              <a:gd name="csX6" fmla="*/ 16627543 w 16810892"/>
              <a:gd name="csY6" fmla="*/ 102225 h 7831015"/>
              <a:gd name="csX0" fmla="*/ 16623323 w 16635111"/>
              <a:gd name="csY0" fmla="*/ 93785 h 7831015"/>
              <a:gd name="csX1" fmla="*/ 0 w 16635111"/>
              <a:gd name="csY1" fmla="*/ 0 h 7831015"/>
              <a:gd name="csX2" fmla="*/ 93784 w 16635111"/>
              <a:gd name="csY2" fmla="*/ 7831015 h 7831015"/>
              <a:gd name="csX3" fmla="*/ 5416061 w 16635111"/>
              <a:gd name="csY3" fmla="*/ 7713785 h 7831015"/>
              <a:gd name="csX4" fmla="*/ 7690338 w 16635111"/>
              <a:gd name="csY4" fmla="*/ 5322277 h 7831015"/>
              <a:gd name="csX5" fmla="*/ 16533100 w 16635111"/>
              <a:gd name="csY5" fmla="*/ 5498271 h 7831015"/>
              <a:gd name="csX6" fmla="*/ 16627543 w 16635111"/>
              <a:gd name="csY6" fmla="*/ 102225 h 7831015"/>
              <a:gd name="csX0" fmla="*/ 16623323 w 16657528"/>
              <a:gd name="csY0" fmla="*/ 93785 h 7831015"/>
              <a:gd name="csX1" fmla="*/ 0 w 16657528"/>
              <a:gd name="csY1" fmla="*/ 0 h 7831015"/>
              <a:gd name="csX2" fmla="*/ 93784 w 16657528"/>
              <a:gd name="csY2" fmla="*/ 7831015 h 7831015"/>
              <a:gd name="csX3" fmla="*/ 5416061 w 16657528"/>
              <a:gd name="csY3" fmla="*/ 7713785 h 7831015"/>
              <a:gd name="csX4" fmla="*/ 7690338 w 16657528"/>
              <a:gd name="csY4" fmla="*/ 5322277 h 7831015"/>
              <a:gd name="csX5" fmla="*/ 16533100 w 16657528"/>
              <a:gd name="csY5" fmla="*/ 5498271 h 7831015"/>
              <a:gd name="csX6" fmla="*/ 16650692 w 16657528"/>
              <a:gd name="csY6" fmla="*/ 67501 h 7831015"/>
              <a:gd name="csX0" fmla="*/ 16623323 w 16671996"/>
              <a:gd name="csY0" fmla="*/ 93785 h 7831015"/>
              <a:gd name="csX1" fmla="*/ 0 w 16671996"/>
              <a:gd name="csY1" fmla="*/ 0 h 7831015"/>
              <a:gd name="csX2" fmla="*/ 93784 w 16671996"/>
              <a:gd name="csY2" fmla="*/ 7831015 h 7831015"/>
              <a:gd name="csX3" fmla="*/ 5416061 w 16671996"/>
              <a:gd name="csY3" fmla="*/ 7713785 h 7831015"/>
              <a:gd name="csX4" fmla="*/ 7690338 w 16671996"/>
              <a:gd name="csY4" fmla="*/ 5322277 h 7831015"/>
              <a:gd name="csX5" fmla="*/ 16671996 w 16671996"/>
              <a:gd name="csY5" fmla="*/ 5486696 h 7831015"/>
              <a:gd name="csX6" fmla="*/ 16650692 w 16671996"/>
              <a:gd name="csY6" fmla="*/ 67501 h 7831015"/>
              <a:gd name="csX0" fmla="*/ 16623323 w 16656855"/>
              <a:gd name="csY0" fmla="*/ 93785 h 7831015"/>
              <a:gd name="csX1" fmla="*/ 0 w 16656855"/>
              <a:gd name="csY1" fmla="*/ 0 h 7831015"/>
              <a:gd name="csX2" fmla="*/ 93784 w 16656855"/>
              <a:gd name="csY2" fmla="*/ 7831015 h 7831015"/>
              <a:gd name="csX3" fmla="*/ 5416061 w 16656855"/>
              <a:gd name="csY3" fmla="*/ 7713785 h 7831015"/>
              <a:gd name="csX4" fmla="*/ 7690338 w 16656855"/>
              <a:gd name="csY4" fmla="*/ 5322277 h 7831015"/>
              <a:gd name="csX5" fmla="*/ 16506896 w 16656855"/>
              <a:gd name="csY5" fmla="*/ 5400336 h 7831015"/>
              <a:gd name="csX6" fmla="*/ 16650692 w 16656855"/>
              <a:gd name="csY6" fmla="*/ 67501 h 7831015"/>
              <a:gd name="csX0" fmla="*/ 16509023 w 16656855"/>
              <a:gd name="csY0" fmla="*/ 96325 h 7831015"/>
              <a:gd name="csX1" fmla="*/ 0 w 16656855"/>
              <a:gd name="csY1" fmla="*/ 0 h 7831015"/>
              <a:gd name="csX2" fmla="*/ 93784 w 16656855"/>
              <a:gd name="csY2" fmla="*/ 7831015 h 7831015"/>
              <a:gd name="csX3" fmla="*/ 5416061 w 16656855"/>
              <a:gd name="csY3" fmla="*/ 7713785 h 7831015"/>
              <a:gd name="csX4" fmla="*/ 7690338 w 16656855"/>
              <a:gd name="csY4" fmla="*/ 5322277 h 7831015"/>
              <a:gd name="csX5" fmla="*/ 16506896 w 16656855"/>
              <a:gd name="csY5" fmla="*/ 5400336 h 7831015"/>
              <a:gd name="csX6" fmla="*/ 16650692 w 16656855"/>
              <a:gd name="csY6" fmla="*/ 67501 h 7831015"/>
              <a:gd name="csX0" fmla="*/ 16509023 w 16521811"/>
              <a:gd name="csY0" fmla="*/ 96325 h 7831015"/>
              <a:gd name="csX1" fmla="*/ 0 w 16521811"/>
              <a:gd name="csY1" fmla="*/ 0 h 7831015"/>
              <a:gd name="csX2" fmla="*/ 93784 w 16521811"/>
              <a:gd name="csY2" fmla="*/ 7831015 h 7831015"/>
              <a:gd name="csX3" fmla="*/ 5416061 w 16521811"/>
              <a:gd name="csY3" fmla="*/ 7713785 h 7831015"/>
              <a:gd name="csX4" fmla="*/ 7690338 w 16521811"/>
              <a:gd name="csY4" fmla="*/ 5322277 h 7831015"/>
              <a:gd name="csX5" fmla="*/ 16506896 w 16521811"/>
              <a:gd name="csY5" fmla="*/ 5400336 h 7831015"/>
              <a:gd name="csX6" fmla="*/ 16508452 w 16521811"/>
              <a:gd name="csY6" fmla="*/ 95441 h 7831015"/>
              <a:gd name="csX0" fmla="*/ 16509023 w 16509023"/>
              <a:gd name="csY0" fmla="*/ 96325 h 7831015"/>
              <a:gd name="csX1" fmla="*/ 0 w 16509023"/>
              <a:gd name="csY1" fmla="*/ 0 h 7831015"/>
              <a:gd name="csX2" fmla="*/ 93784 w 16509023"/>
              <a:gd name="csY2" fmla="*/ 7831015 h 7831015"/>
              <a:gd name="csX3" fmla="*/ 5416061 w 16509023"/>
              <a:gd name="csY3" fmla="*/ 7713785 h 7831015"/>
              <a:gd name="csX4" fmla="*/ 7690338 w 16509023"/>
              <a:gd name="csY4" fmla="*/ 5322277 h 7831015"/>
              <a:gd name="csX5" fmla="*/ 16506896 w 16509023"/>
              <a:gd name="csY5" fmla="*/ 5400336 h 7831015"/>
              <a:gd name="csX6" fmla="*/ 16508452 w 16509023"/>
              <a:gd name="csY6" fmla="*/ 95441 h 7831015"/>
              <a:gd name="csX0" fmla="*/ 16509023 w 16510685"/>
              <a:gd name="csY0" fmla="*/ 96325 h 7831015"/>
              <a:gd name="csX1" fmla="*/ 0 w 16510685"/>
              <a:gd name="csY1" fmla="*/ 0 h 7831015"/>
              <a:gd name="csX2" fmla="*/ 93784 w 16510685"/>
              <a:gd name="csY2" fmla="*/ 7831015 h 7831015"/>
              <a:gd name="csX3" fmla="*/ 5416061 w 16510685"/>
              <a:gd name="csY3" fmla="*/ 7713785 h 7831015"/>
              <a:gd name="csX4" fmla="*/ 7690338 w 16510685"/>
              <a:gd name="csY4" fmla="*/ 5322277 h 7831015"/>
              <a:gd name="csX5" fmla="*/ 16506896 w 16510685"/>
              <a:gd name="csY5" fmla="*/ 5400336 h 7831015"/>
              <a:gd name="csX6" fmla="*/ 16508452 w 16510685"/>
              <a:gd name="csY6" fmla="*/ 95441 h 7831015"/>
              <a:gd name="csX0" fmla="*/ 16509023 w 16510685"/>
              <a:gd name="csY0" fmla="*/ 96325 h 7831015"/>
              <a:gd name="csX1" fmla="*/ 0 w 16510685"/>
              <a:gd name="csY1" fmla="*/ 0 h 7831015"/>
              <a:gd name="csX2" fmla="*/ 93784 w 16510685"/>
              <a:gd name="csY2" fmla="*/ 7831015 h 7831015"/>
              <a:gd name="csX3" fmla="*/ 5416061 w 16510685"/>
              <a:gd name="csY3" fmla="*/ 7713785 h 7831015"/>
              <a:gd name="csX4" fmla="*/ 7690338 w 16510685"/>
              <a:gd name="csY4" fmla="*/ 5322277 h 7831015"/>
              <a:gd name="csX5" fmla="*/ 16506896 w 16510685"/>
              <a:gd name="csY5" fmla="*/ 5313976 h 7831015"/>
              <a:gd name="csX6" fmla="*/ 16508452 w 16510685"/>
              <a:gd name="csY6" fmla="*/ 95441 h 7831015"/>
              <a:gd name="csX0" fmla="*/ 16509023 w 16510685"/>
              <a:gd name="csY0" fmla="*/ 96325 h 7831015"/>
              <a:gd name="csX1" fmla="*/ 0 w 16510685"/>
              <a:gd name="csY1" fmla="*/ 0 h 7831015"/>
              <a:gd name="csX2" fmla="*/ 93784 w 16510685"/>
              <a:gd name="csY2" fmla="*/ 7831015 h 7831015"/>
              <a:gd name="csX3" fmla="*/ 5416061 w 16510685"/>
              <a:gd name="csY3" fmla="*/ 7713785 h 7831015"/>
              <a:gd name="csX4" fmla="*/ 7690338 w 16510685"/>
              <a:gd name="csY4" fmla="*/ 5322277 h 7831015"/>
              <a:gd name="csX5" fmla="*/ 16506896 w 16510685"/>
              <a:gd name="csY5" fmla="*/ 5313976 h 7831015"/>
              <a:gd name="csX6" fmla="*/ 16508452 w 16510685"/>
              <a:gd name="csY6" fmla="*/ 87821 h 7831015"/>
              <a:gd name="csX0" fmla="*/ 16509023 w 16510685"/>
              <a:gd name="csY0" fmla="*/ 96325 h 7831015"/>
              <a:gd name="csX1" fmla="*/ 0 w 16510685"/>
              <a:gd name="csY1" fmla="*/ 0 h 7831015"/>
              <a:gd name="csX2" fmla="*/ 93784 w 16510685"/>
              <a:gd name="csY2" fmla="*/ 7831015 h 7831015"/>
              <a:gd name="csX3" fmla="*/ 5535441 w 16510685"/>
              <a:gd name="csY3" fmla="*/ 7408985 h 7831015"/>
              <a:gd name="csX4" fmla="*/ 7690338 w 16510685"/>
              <a:gd name="csY4" fmla="*/ 5322277 h 7831015"/>
              <a:gd name="csX5" fmla="*/ 16506896 w 16510685"/>
              <a:gd name="csY5" fmla="*/ 5313976 h 7831015"/>
              <a:gd name="csX6" fmla="*/ 16508452 w 16510685"/>
              <a:gd name="csY6" fmla="*/ 87821 h 7831015"/>
              <a:gd name="csX0" fmla="*/ 16509023 w 16510685"/>
              <a:gd name="csY0" fmla="*/ 96325 h 7408985"/>
              <a:gd name="csX1" fmla="*/ 0 w 16510685"/>
              <a:gd name="csY1" fmla="*/ 0 h 7408985"/>
              <a:gd name="csX2" fmla="*/ 55684 w 16510685"/>
              <a:gd name="csY2" fmla="*/ 7404295 h 7408985"/>
              <a:gd name="csX3" fmla="*/ 5535441 w 16510685"/>
              <a:gd name="csY3" fmla="*/ 7408985 h 7408985"/>
              <a:gd name="csX4" fmla="*/ 7690338 w 16510685"/>
              <a:gd name="csY4" fmla="*/ 5322277 h 7408985"/>
              <a:gd name="csX5" fmla="*/ 16506896 w 16510685"/>
              <a:gd name="csY5" fmla="*/ 5313976 h 7408985"/>
              <a:gd name="csX6" fmla="*/ 16508452 w 16510685"/>
              <a:gd name="csY6" fmla="*/ 87821 h 7408985"/>
              <a:gd name="csX0" fmla="*/ 16509023 w 16510685"/>
              <a:gd name="csY0" fmla="*/ 96325 h 7410010"/>
              <a:gd name="csX1" fmla="*/ 0 w 16510685"/>
              <a:gd name="csY1" fmla="*/ 0 h 7410010"/>
              <a:gd name="csX2" fmla="*/ 48064 w 16510685"/>
              <a:gd name="csY2" fmla="*/ 7410010 h 7410010"/>
              <a:gd name="csX3" fmla="*/ 5535441 w 16510685"/>
              <a:gd name="csY3" fmla="*/ 7408985 h 7410010"/>
              <a:gd name="csX4" fmla="*/ 7690338 w 16510685"/>
              <a:gd name="csY4" fmla="*/ 5322277 h 7410010"/>
              <a:gd name="csX5" fmla="*/ 16506896 w 16510685"/>
              <a:gd name="csY5" fmla="*/ 5313976 h 7410010"/>
              <a:gd name="csX6" fmla="*/ 16508452 w 16510685"/>
              <a:gd name="csY6" fmla="*/ 87821 h 7410010"/>
              <a:gd name="csX0" fmla="*/ 16461398 w 16463060"/>
              <a:gd name="csY0" fmla="*/ 88705 h 7402390"/>
              <a:gd name="csX1" fmla="*/ 0 w 16463060"/>
              <a:gd name="csY1" fmla="*/ 0 h 7402390"/>
              <a:gd name="csX2" fmla="*/ 439 w 16463060"/>
              <a:gd name="csY2" fmla="*/ 7402390 h 7402390"/>
              <a:gd name="csX3" fmla="*/ 5487816 w 16463060"/>
              <a:gd name="csY3" fmla="*/ 7401365 h 7402390"/>
              <a:gd name="csX4" fmla="*/ 7642713 w 16463060"/>
              <a:gd name="csY4" fmla="*/ 5314657 h 7402390"/>
              <a:gd name="csX5" fmla="*/ 16459271 w 16463060"/>
              <a:gd name="csY5" fmla="*/ 5306356 h 7402390"/>
              <a:gd name="csX6" fmla="*/ 16460827 w 16463060"/>
              <a:gd name="csY6" fmla="*/ 80201 h 7402390"/>
              <a:gd name="csX0" fmla="*/ 16461398 w 16461537"/>
              <a:gd name="csY0" fmla="*/ 90419 h 7404104"/>
              <a:gd name="csX1" fmla="*/ 0 w 16461537"/>
              <a:gd name="csY1" fmla="*/ 1714 h 7404104"/>
              <a:gd name="csX2" fmla="*/ 439 w 16461537"/>
              <a:gd name="csY2" fmla="*/ 7404104 h 7404104"/>
              <a:gd name="csX3" fmla="*/ 5487816 w 16461537"/>
              <a:gd name="csY3" fmla="*/ 7403079 h 7404104"/>
              <a:gd name="csX4" fmla="*/ 7642713 w 16461537"/>
              <a:gd name="csY4" fmla="*/ 5316371 h 7404104"/>
              <a:gd name="csX5" fmla="*/ 16459271 w 16461537"/>
              <a:gd name="csY5" fmla="*/ 5308070 h 7404104"/>
              <a:gd name="csX6" fmla="*/ 16458922 w 16461537"/>
              <a:gd name="csY6" fmla="*/ 0 h 7404104"/>
              <a:gd name="csX0" fmla="*/ 16455683 w 16461537"/>
              <a:gd name="csY0" fmla="*/ 0 h 7405125"/>
              <a:gd name="csX1" fmla="*/ 0 w 16461537"/>
              <a:gd name="csY1" fmla="*/ 2735 h 7405125"/>
              <a:gd name="csX2" fmla="*/ 439 w 16461537"/>
              <a:gd name="csY2" fmla="*/ 7405125 h 7405125"/>
              <a:gd name="csX3" fmla="*/ 5487816 w 16461537"/>
              <a:gd name="csY3" fmla="*/ 7404100 h 7405125"/>
              <a:gd name="csX4" fmla="*/ 7642713 w 16461537"/>
              <a:gd name="csY4" fmla="*/ 5317392 h 7405125"/>
              <a:gd name="csX5" fmla="*/ 16459271 w 16461537"/>
              <a:gd name="csY5" fmla="*/ 5309091 h 7405125"/>
              <a:gd name="csX6" fmla="*/ 16458922 w 16461537"/>
              <a:gd name="csY6" fmla="*/ 1021 h 74051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461537" h="7405125">
                <a:moveTo>
                  <a:pt x="16455683" y="0"/>
                </a:moveTo>
                <a:lnTo>
                  <a:pt x="0" y="2735"/>
                </a:lnTo>
                <a:cubicBezTo>
                  <a:pt x="146" y="2470198"/>
                  <a:pt x="293" y="4937662"/>
                  <a:pt x="439" y="7405125"/>
                </a:cubicBezTo>
                <a:lnTo>
                  <a:pt x="5487816" y="7404100"/>
                </a:lnTo>
                <a:lnTo>
                  <a:pt x="7642713" y="5317392"/>
                </a:lnTo>
                <a:lnTo>
                  <a:pt x="16459271" y="5309091"/>
                </a:lnTo>
                <a:cubicBezTo>
                  <a:pt x="16458099" y="3649299"/>
                  <a:pt x="16465174" y="1673513"/>
                  <a:pt x="16458922" y="1021"/>
                </a:cubicBezTo>
              </a:path>
            </a:pathLst>
          </a:custGeom>
          <a:noFill/>
          <a:ln w="57150" cap="rnd">
            <a:solidFill>
              <a:srgbClr val="D3A269"/>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023773-3970-3EAB-2F32-8EEE88CE8087}"/>
              </a:ext>
            </a:extLst>
          </p:cNvPr>
          <p:cNvSpPr>
            <a:spLocks noGrp="1"/>
          </p:cNvSpPr>
          <p:nvPr>
            <p:ph type="title"/>
          </p:nvPr>
        </p:nvSpPr>
        <p:spPr>
          <a:xfrm>
            <a:off x="1257300" y="0"/>
            <a:ext cx="15773400" cy="1988345"/>
          </a:xfrm>
        </p:spPr>
        <p:txBody>
          <a:bodyPr/>
          <a:lstStyle/>
          <a:p>
            <a:pPr algn="ctr"/>
            <a:r>
              <a:rPr lang="en-US" dirty="0"/>
              <a:t>Reinforcement Learning: Balance Bot</a:t>
            </a:r>
          </a:p>
        </p:txBody>
      </p:sp>
      <p:sp>
        <p:nvSpPr>
          <p:cNvPr id="3" name="Oval 2">
            <a:extLst>
              <a:ext uri="{FF2B5EF4-FFF2-40B4-BE49-F238E27FC236}">
                <a16:creationId xmlns:a16="http://schemas.microsoft.com/office/drawing/2014/main" id="{8520F93D-CF77-26C5-97DF-C88CA25D281B}"/>
              </a:ext>
            </a:extLst>
          </p:cNvPr>
          <p:cNvSpPr/>
          <p:nvPr/>
        </p:nvSpPr>
        <p:spPr>
          <a:xfrm>
            <a:off x="8574165" y="7246597"/>
            <a:ext cx="2416004" cy="24160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Roboto" panose="02000000000000000000" pitchFamily="2" charset="0"/>
                <a:ea typeface="Roboto" panose="02000000000000000000" pitchFamily="2" charset="0"/>
              </a:rPr>
              <a:t>Agent</a:t>
            </a:r>
          </a:p>
        </p:txBody>
      </p:sp>
      <p:grpSp>
        <p:nvGrpSpPr>
          <p:cNvPr id="11" name="Group 10">
            <a:extLst>
              <a:ext uri="{FF2B5EF4-FFF2-40B4-BE49-F238E27FC236}">
                <a16:creationId xmlns:a16="http://schemas.microsoft.com/office/drawing/2014/main" id="{58C7A2C6-1754-AA78-C6F0-BC4FAB535F00}"/>
              </a:ext>
            </a:extLst>
          </p:cNvPr>
          <p:cNvGrpSpPr/>
          <p:nvPr/>
        </p:nvGrpSpPr>
        <p:grpSpPr>
          <a:xfrm>
            <a:off x="8869683" y="2857525"/>
            <a:ext cx="1828780" cy="2285975"/>
            <a:chOff x="10789902" y="3954793"/>
            <a:chExt cx="1828780" cy="2285975"/>
          </a:xfrm>
        </p:grpSpPr>
        <p:sp>
          <p:nvSpPr>
            <p:cNvPr id="7" name="Rectangle: Rounded Corners 6">
              <a:extLst>
                <a:ext uri="{FF2B5EF4-FFF2-40B4-BE49-F238E27FC236}">
                  <a16:creationId xmlns:a16="http://schemas.microsoft.com/office/drawing/2014/main" id="{50DCDA09-D39D-6680-8700-B8CF3001A293}"/>
                </a:ext>
              </a:extLst>
            </p:cNvPr>
            <p:cNvSpPr/>
            <p:nvPr/>
          </p:nvSpPr>
          <p:spPr>
            <a:xfrm>
              <a:off x="10789902" y="3954793"/>
              <a:ext cx="1828780" cy="1371585"/>
            </a:xfrm>
            <a:prstGeom prst="roundRect">
              <a:avLst>
                <a:gd name="adj" fmla="val 9616"/>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F91040AA-591B-6340-FD16-DCFC776AC8F9}"/>
                </a:ext>
              </a:extLst>
            </p:cNvPr>
            <p:cNvSpPr/>
            <p:nvPr/>
          </p:nvSpPr>
          <p:spPr>
            <a:xfrm>
              <a:off x="11064219" y="4960622"/>
              <a:ext cx="1280146" cy="1280146"/>
            </a:xfrm>
            <a:prstGeom prst="ellipse">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724024C1-2326-8E87-284D-A007F6E930AA}"/>
                </a:ext>
              </a:extLst>
            </p:cNvPr>
            <p:cNvCxnSpPr/>
            <p:nvPr/>
          </p:nvCxnSpPr>
          <p:spPr>
            <a:xfrm>
              <a:off x="10789902" y="4411988"/>
              <a:ext cx="182878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4D8D25C1-A791-79E7-BBC6-C9EBAC26B199}"/>
                </a:ext>
              </a:extLst>
            </p:cNvPr>
            <p:cNvSpPr/>
            <p:nvPr/>
          </p:nvSpPr>
          <p:spPr>
            <a:xfrm>
              <a:off x="11319494" y="5234939"/>
              <a:ext cx="750554" cy="750554"/>
            </a:xfrm>
            <a:prstGeom prst="ellipse">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A5F266DC-4FFE-DA60-1506-5CABA899F2CB}"/>
              </a:ext>
            </a:extLst>
          </p:cNvPr>
          <p:cNvGrpSpPr/>
          <p:nvPr/>
        </p:nvGrpSpPr>
        <p:grpSpPr>
          <a:xfrm>
            <a:off x="13715950" y="5417817"/>
            <a:ext cx="1737341" cy="640074"/>
            <a:chOff x="11429975" y="5234938"/>
            <a:chExt cx="1737341" cy="640074"/>
          </a:xfrm>
        </p:grpSpPr>
        <p:sp>
          <p:nvSpPr>
            <p:cNvPr id="12" name="Rectangle: Rounded Corners 11">
              <a:extLst>
                <a:ext uri="{FF2B5EF4-FFF2-40B4-BE49-F238E27FC236}">
                  <a16:creationId xmlns:a16="http://schemas.microsoft.com/office/drawing/2014/main" id="{6ED3969E-D43C-CC6F-4585-DD13E4C89FF1}"/>
                </a:ext>
              </a:extLst>
            </p:cNvPr>
            <p:cNvSpPr/>
            <p:nvPr/>
          </p:nvSpPr>
          <p:spPr>
            <a:xfrm>
              <a:off x="12344365" y="5234939"/>
              <a:ext cx="822951" cy="640073"/>
            </a:xfrm>
            <a:prstGeom prst="roundRect">
              <a:avLst>
                <a:gd name="adj" fmla="val 1000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B4241D5B-BC4B-35DB-E270-4A7F3D81E4F8}"/>
                </a:ext>
              </a:extLst>
            </p:cNvPr>
            <p:cNvSpPr/>
            <p:nvPr/>
          </p:nvSpPr>
          <p:spPr>
            <a:xfrm>
              <a:off x="11795731" y="5234938"/>
              <a:ext cx="640073" cy="640073"/>
            </a:xfrm>
            <a:prstGeom prst="roundRect">
              <a:avLst>
                <a:gd name="adj" fmla="val 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60FB5051-DBA0-99F0-AE9A-D12AB6497EED}"/>
                </a:ext>
              </a:extLst>
            </p:cNvPr>
            <p:cNvSpPr/>
            <p:nvPr/>
          </p:nvSpPr>
          <p:spPr>
            <a:xfrm>
              <a:off x="11429975" y="5509254"/>
              <a:ext cx="365756" cy="91439"/>
            </a:xfrm>
            <a:prstGeom prst="roundRect">
              <a:avLst>
                <a:gd name="adj" fmla="val 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DEAE84E7-1DA3-D07A-2233-ACF9A82F4456}"/>
              </a:ext>
            </a:extLst>
          </p:cNvPr>
          <p:cNvGrpSpPr/>
          <p:nvPr/>
        </p:nvGrpSpPr>
        <p:grpSpPr>
          <a:xfrm>
            <a:off x="13533071" y="5737852"/>
            <a:ext cx="1737341" cy="640074"/>
            <a:chOff x="11429975" y="5234938"/>
            <a:chExt cx="1737341" cy="640074"/>
          </a:xfrm>
        </p:grpSpPr>
        <p:sp>
          <p:nvSpPr>
            <p:cNvPr id="17" name="Rectangle: Rounded Corners 16">
              <a:extLst>
                <a:ext uri="{FF2B5EF4-FFF2-40B4-BE49-F238E27FC236}">
                  <a16:creationId xmlns:a16="http://schemas.microsoft.com/office/drawing/2014/main" id="{D3EADC22-6202-6017-9CFD-FBB521D6EE7B}"/>
                </a:ext>
              </a:extLst>
            </p:cNvPr>
            <p:cNvSpPr/>
            <p:nvPr/>
          </p:nvSpPr>
          <p:spPr>
            <a:xfrm>
              <a:off x="12344365" y="5234939"/>
              <a:ext cx="822951" cy="640073"/>
            </a:xfrm>
            <a:prstGeom prst="roundRect">
              <a:avLst>
                <a:gd name="adj" fmla="val 1000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54C51747-D22B-01CC-53EC-251C5BDA48B5}"/>
                </a:ext>
              </a:extLst>
            </p:cNvPr>
            <p:cNvSpPr/>
            <p:nvPr/>
          </p:nvSpPr>
          <p:spPr>
            <a:xfrm>
              <a:off x="11795731" y="5234938"/>
              <a:ext cx="640073" cy="640073"/>
            </a:xfrm>
            <a:prstGeom prst="roundRect">
              <a:avLst>
                <a:gd name="adj" fmla="val 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EE6B9DA7-EC8A-AE2A-6F35-7AE6F9F69258}"/>
                </a:ext>
              </a:extLst>
            </p:cNvPr>
            <p:cNvSpPr/>
            <p:nvPr/>
          </p:nvSpPr>
          <p:spPr>
            <a:xfrm>
              <a:off x="11429975" y="5509254"/>
              <a:ext cx="365756" cy="91439"/>
            </a:xfrm>
            <a:prstGeom prst="roundRect">
              <a:avLst>
                <a:gd name="adj" fmla="val 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778C4F91-AEB7-C0A2-B535-524F4A0F131D}"/>
              </a:ext>
            </a:extLst>
          </p:cNvPr>
          <p:cNvGrpSpPr/>
          <p:nvPr/>
        </p:nvGrpSpPr>
        <p:grpSpPr>
          <a:xfrm flipH="1">
            <a:off x="7955293" y="5143498"/>
            <a:ext cx="3834720" cy="173731"/>
            <a:chOff x="7136154" y="5143498"/>
            <a:chExt cx="3834720" cy="173731"/>
          </a:xfrm>
        </p:grpSpPr>
        <p:cxnSp>
          <p:nvCxnSpPr>
            <p:cNvPr id="25" name="Straight Connector 24">
              <a:extLst>
                <a:ext uri="{FF2B5EF4-FFF2-40B4-BE49-F238E27FC236}">
                  <a16:creationId xmlns:a16="http://schemas.microsoft.com/office/drawing/2014/main" id="{4C661CC8-FEDF-8A6E-B11D-603FF5003A55}"/>
                </a:ext>
              </a:extLst>
            </p:cNvPr>
            <p:cNvCxnSpPr>
              <a:cxnSpLocks/>
            </p:cNvCxnSpPr>
            <p:nvPr/>
          </p:nvCxnSpPr>
          <p:spPr>
            <a:xfrm flipV="1">
              <a:off x="7317126" y="5143498"/>
              <a:ext cx="3653748" cy="2"/>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F1CE815-C62B-F61C-3D2F-13223890EBE3}"/>
                </a:ext>
              </a:extLst>
            </p:cNvPr>
            <p:cNvCxnSpPr>
              <a:cxnSpLocks/>
            </p:cNvCxnSpPr>
            <p:nvPr/>
          </p:nvCxnSpPr>
          <p:spPr>
            <a:xfrm flipV="1">
              <a:off x="7136154" y="5143500"/>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3F210F1-D028-45B8-0579-42B8B404A45A}"/>
                </a:ext>
              </a:extLst>
            </p:cNvPr>
            <p:cNvCxnSpPr>
              <a:cxnSpLocks/>
            </p:cNvCxnSpPr>
            <p:nvPr/>
          </p:nvCxnSpPr>
          <p:spPr>
            <a:xfrm flipV="1">
              <a:off x="8048638" y="5143500"/>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815459B-273E-9E57-19BE-58A9E4AA5F87}"/>
                </a:ext>
              </a:extLst>
            </p:cNvPr>
            <p:cNvCxnSpPr>
              <a:cxnSpLocks/>
            </p:cNvCxnSpPr>
            <p:nvPr/>
          </p:nvCxnSpPr>
          <p:spPr>
            <a:xfrm flipV="1">
              <a:off x="8963028" y="5143499"/>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7D2A150-CFE9-51EB-B0D4-4FC83D0AB501}"/>
                </a:ext>
              </a:extLst>
            </p:cNvPr>
            <p:cNvCxnSpPr>
              <a:cxnSpLocks/>
            </p:cNvCxnSpPr>
            <p:nvPr/>
          </p:nvCxnSpPr>
          <p:spPr>
            <a:xfrm flipV="1">
              <a:off x="9877418" y="5143499"/>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6ABD96D-4981-E1CC-666C-7B1B632A51A5}"/>
                </a:ext>
              </a:extLst>
            </p:cNvPr>
            <p:cNvCxnSpPr>
              <a:cxnSpLocks/>
            </p:cNvCxnSpPr>
            <p:nvPr/>
          </p:nvCxnSpPr>
          <p:spPr>
            <a:xfrm flipV="1">
              <a:off x="10789902" y="5143498"/>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1" name="Rectangle 40">
            <a:extLst>
              <a:ext uri="{FF2B5EF4-FFF2-40B4-BE49-F238E27FC236}">
                <a16:creationId xmlns:a16="http://schemas.microsoft.com/office/drawing/2014/main" id="{6CD09BA8-B9F5-C0FC-6261-C17BF0607BA8}"/>
              </a:ext>
            </a:extLst>
          </p:cNvPr>
          <p:cNvSpPr/>
          <p:nvPr/>
        </p:nvSpPr>
        <p:spPr>
          <a:xfrm>
            <a:off x="1257300" y="2802424"/>
            <a:ext cx="5143530" cy="3438336"/>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u="sng" dirty="0">
                <a:solidFill>
                  <a:schemeClr val="bg1"/>
                </a:solidFill>
                <a:latin typeface="Roboto" panose="02000000000000000000" pitchFamily="2" charset="0"/>
                <a:ea typeface="Roboto" panose="02000000000000000000" pitchFamily="2" charset="0"/>
              </a:rPr>
              <a:t>Observation</a:t>
            </a:r>
            <a:endParaRPr lang="en-US" sz="3200" b="1" dirty="0">
              <a:solidFill>
                <a:schemeClr val="bg1"/>
              </a:solidFill>
              <a:latin typeface="Roboto" panose="02000000000000000000" pitchFamily="2" charset="0"/>
              <a:ea typeface="Roboto" panose="02000000000000000000" pitchFamily="2" charset="0"/>
            </a:endParaRPr>
          </a:p>
          <a:p>
            <a:pPr algn="ctr"/>
            <a:endParaRPr lang="en-US" sz="800" b="1" dirty="0">
              <a:solidFill>
                <a:schemeClr val="bg1"/>
              </a:solidFill>
              <a:latin typeface="Roboto" panose="02000000000000000000" pitchFamily="2" charset="0"/>
              <a:ea typeface="Roboto" panose="02000000000000000000" pitchFamily="2" charset="0"/>
            </a:endParaRPr>
          </a:p>
          <a:p>
            <a:pPr algn="ctr"/>
            <a:r>
              <a:rPr lang="en-US" sz="3200" b="1" dirty="0">
                <a:solidFill>
                  <a:schemeClr val="bg1"/>
                </a:solidFill>
                <a:latin typeface="Roboto" panose="02000000000000000000" pitchFamily="2" charset="0"/>
                <a:ea typeface="Roboto" panose="02000000000000000000" pitchFamily="2" charset="0"/>
              </a:rPr>
              <a:t>IMU</a:t>
            </a:r>
            <a:r>
              <a:rPr lang="en-US" sz="3200" dirty="0">
                <a:solidFill>
                  <a:schemeClr val="bg1"/>
                </a:solidFill>
                <a:latin typeface="Roboto" panose="02000000000000000000" pitchFamily="2" charset="0"/>
                <a:ea typeface="Roboto" panose="02000000000000000000" pitchFamily="2" charset="0"/>
              </a:rPr>
              <a:t>: </a:t>
            </a:r>
          </a:p>
          <a:p>
            <a:pPr algn="ctr"/>
            <a:r>
              <a:rPr lang="en-US" sz="3200" dirty="0">
                <a:solidFill>
                  <a:schemeClr val="bg1"/>
                </a:solidFill>
                <a:latin typeface="Roboto" panose="02000000000000000000" pitchFamily="2" charset="0"/>
                <a:ea typeface="Roboto" panose="02000000000000000000" pitchFamily="2" charset="0"/>
              </a:rPr>
              <a:t>pitch, pitch rate</a:t>
            </a:r>
          </a:p>
          <a:p>
            <a:pPr algn="ctr"/>
            <a:endParaRPr lang="en-US" sz="800" dirty="0">
              <a:solidFill>
                <a:schemeClr val="bg1"/>
              </a:solidFill>
              <a:latin typeface="Roboto" panose="02000000000000000000" pitchFamily="2" charset="0"/>
              <a:ea typeface="Roboto" panose="02000000000000000000" pitchFamily="2" charset="0"/>
            </a:endParaRPr>
          </a:p>
          <a:p>
            <a:pPr algn="ctr"/>
            <a:r>
              <a:rPr lang="en-US" sz="3200" b="1" dirty="0">
                <a:solidFill>
                  <a:schemeClr val="bg1"/>
                </a:solidFill>
                <a:latin typeface="Roboto" panose="02000000000000000000" pitchFamily="2" charset="0"/>
                <a:ea typeface="Roboto" panose="02000000000000000000" pitchFamily="2" charset="0"/>
              </a:rPr>
              <a:t>Motor encoders</a:t>
            </a:r>
            <a:r>
              <a:rPr lang="en-US" sz="3200" dirty="0">
                <a:solidFill>
                  <a:schemeClr val="bg1"/>
                </a:solidFill>
                <a:latin typeface="Roboto" panose="02000000000000000000" pitchFamily="2" charset="0"/>
                <a:ea typeface="Roboto" panose="02000000000000000000" pitchFamily="2" charset="0"/>
              </a:rPr>
              <a:t>:</a:t>
            </a:r>
          </a:p>
          <a:p>
            <a:pPr algn="ctr"/>
            <a:r>
              <a:rPr lang="en-US" sz="3200" dirty="0">
                <a:solidFill>
                  <a:schemeClr val="bg1"/>
                </a:solidFill>
                <a:latin typeface="Roboto" panose="02000000000000000000" pitchFamily="2" charset="0"/>
                <a:ea typeface="Roboto" panose="02000000000000000000" pitchFamily="2" charset="0"/>
              </a:rPr>
              <a:t>left/right wheel angular velocity </a:t>
            </a:r>
          </a:p>
        </p:txBody>
      </p:sp>
      <p:sp>
        <p:nvSpPr>
          <p:cNvPr id="42" name="TextBox 41">
            <a:extLst>
              <a:ext uri="{FF2B5EF4-FFF2-40B4-BE49-F238E27FC236}">
                <a16:creationId xmlns:a16="http://schemas.microsoft.com/office/drawing/2014/main" id="{B0625A6F-509E-4A20-0596-0CD5A6CBE903}"/>
              </a:ext>
            </a:extLst>
          </p:cNvPr>
          <p:cNvSpPr txBox="1"/>
          <p:nvPr/>
        </p:nvSpPr>
        <p:spPr>
          <a:xfrm>
            <a:off x="13898827" y="4645587"/>
            <a:ext cx="3408305" cy="584775"/>
          </a:xfrm>
          <a:prstGeom prst="rect">
            <a:avLst/>
          </a:prstGeom>
          <a:noFill/>
        </p:spPr>
        <p:txBody>
          <a:bodyPr wrap="none" rtlCol="0">
            <a:spAutoFit/>
          </a:bodyPr>
          <a:lstStyle/>
          <a:p>
            <a:r>
              <a:rPr lang="en-US" sz="3200" dirty="0">
                <a:solidFill>
                  <a:schemeClr val="bg1"/>
                </a:solidFill>
                <a:latin typeface="Roboto" panose="02000000000000000000" pitchFamily="2" charset="0"/>
                <a:ea typeface="Roboto" panose="02000000000000000000" pitchFamily="2" charset="0"/>
              </a:rPr>
              <a:t>Motors/actuators</a:t>
            </a:r>
          </a:p>
        </p:txBody>
      </p:sp>
      <p:sp>
        <p:nvSpPr>
          <p:cNvPr id="43" name="TextBox 42">
            <a:extLst>
              <a:ext uri="{FF2B5EF4-FFF2-40B4-BE49-F238E27FC236}">
                <a16:creationId xmlns:a16="http://schemas.microsoft.com/office/drawing/2014/main" id="{41B56B7E-A2CC-6407-98A0-3D0B8A75B4FB}"/>
              </a:ext>
            </a:extLst>
          </p:cNvPr>
          <p:cNvSpPr txBox="1"/>
          <p:nvPr/>
        </p:nvSpPr>
        <p:spPr>
          <a:xfrm>
            <a:off x="6722675" y="2085108"/>
            <a:ext cx="6118983" cy="584775"/>
          </a:xfrm>
          <a:prstGeom prst="rect">
            <a:avLst/>
          </a:prstGeom>
          <a:noFill/>
        </p:spPr>
        <p:txBody>
          <a:bodyPr wrap="none" rtlCol="0">
            <a:spAutoFit/>
          </a:bodyPr>
          <a:lstStyle/>
          <a:p>
            <a:r>
              <a:rPr lang="en-US" sz="3200" dirty="0">
                <a:solidFill>
                  <a:schemeClr val="bg1"/>
                </a:solidFill>
                <a:latin typeface="Roboto" panose="02000000000000000000" pitchFamily="2" charset="0"/>
                <a:ea typeface="Roboto" panose="02000000000000000000" pitchFamily="2" charset="0"/>
              </a:rPr>
              <a:t>Robot chassis, wheels, floor, etc.</a:t>
            </a:r>
          </a:p>
        </p:txBody>
      </p:sp>
      <p:cxnSp>
        <p:nvCxnSpPr>
          <p:cNvPr id="45" name="Straight Arrow Connector 44">
            <a:extLst>
              <a:ext uri="{FF2B5EF4-FFF2-40B4-BE49-F238E27FC236}">
                <a16:creationId xmlns:a16="http://schemas.microsoft.com/office/drawing/2014/main" id="{C2AE4303-145A-F84F-3F9F-989924B48791}"/>
              </a:ext>
            </a:extLst>
          </p:cNvPr>
          <p:cNvCxnSpPr>
            <a:cxnSpLocks/>
          </p:cNvCxnSpPr>
          <p:nvPr/>
        </p:nvCxnSpPr>
        <p:spPr>
          <a:xfrm flipV="1">
            <a:off x="11064219" y="6515085"/>
            <a:ext cx="2468852" cy="1371585"/>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4A879D1-ADB1-E696-F02B-445BF86394C7}"/>
              </a:ext>
            </a:extLst>
          </p:cNvPr>
          <p:cNvCxnSpPr>
            <a:cxnSpLocks/>
          </p:cNvCxnSpPr>
          <p:nvPr/>
        </p:nvCxnSpPr>
        <p:spPr>
          <a:xfrm flipH="1" flipV="1">
            <a:off x="11106127" y="4041468"/>
            <a:ext cx="2609822" cy="1188894"/>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74D74D3-8540-200A-35A1-4A96F1DAA1CD}"/>
              </a:ext>
            </a:extLst>
          </p:cNvPr>
          <p:cNvCxnSpPr>
            <a:cxnSpLocks/>
          </p:cNvCxnSpPr>
          <p:nvPr/>
        </p:nvCxnSpPr>
        <p:spPr>
          <a:xfrm flipH="1">
            <a:off x="6629428" y="3538247"/>
            <a:ext cx="1895453" cy="0"/>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9A538690-D2DC-CD2A-C941-3E80C2E61761}"/>
              </a:ext>
            </a:extLst>
          </p:cNvPr>
          <p:cNvCxnSpPr>
            <a:cxnSpLocks/>
          </p:cNvCxnSpPr>
          <p:nvPr/>
        </p:nvCxnSpPr>
        <p:spPr>
          <a:xfrm>
            <a:off x="6629428" y="5783572"/>
            <a:ext cx="2219301" cy="1767110"/>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6D9E400E-6151-9C77-1477-8566C247F985}"/>
              </a:ext>
            </a:extLst>
          </p:cNvPr>
          <p:cNvSpPr txBox="1"/>
          <p:nvPr/>
        </p:nvSpPr>
        <p:spPr>
          <a:xfrm rot="19851830">
            <a:off x="11659132" y="7258295"/>
            <a:ext cx="1361270" cy="584775"/>
          </a:xfrm>
          <a:prstGeom prst="rect">
            <a:avLst/>
          </a:prstGeom>
          <a:noFill/>
        </p:spPr>
        <p:txBody>
          <a:bodyPr wrap="none" rtlCol="0">
            <a:spAutoFit/>
          </a:bodyPr>
          <a:lstStyle/>
          <a:p>
            <a:r>
              <a:rPr lang="en-US" sz="3200" dirty="0">
                <a:solidFill>
                  <a:schemeClr val="bg1"/>
                </a:solidFill>
                <a:latin typeface="Roboto" panose="02000000000000000000" pitchFamily="2" charset="0"/>
                <a:ea typeface="Roboto" panose="02000000000000000000" pitchFamily="2" charset="0"/>
              </a:rPr>
              <a:t>Action</a:t>
            </a:r>
          </a:p>
        </p:txBody>
      </p:sp>
      <p:sp>
        <p:nvSpPr>
          <p:cNvPr id="64" name="TextBox 63">
            <a:extLst>
              <a:ext uri="{FF2B5EF4-FFF2-40B4-BE49-F238E27FC236}">
                <a16:creationId xmlns:a16="http://schemas.microsoft.com/office/drawing/2014/main" id="{3CA46ADD-EA41-DD8F-1248-C613FCFBD8DF}"/>
              </a:ext>
            </a:extLst>
          </p:cNvPr>
          <p:cNvSpPr txBox="1"/>
          <p:nvPr/>
        </p:nvSpPr>
        <p:spPr>
          <a:xfrm>
            <a:off x="14315621" y="7087345"/>
            <a:ext cx="3057247" cy="707886"/>
          </a:xfrm>
          <a:prstGeom prst="rect">
            <a:avLst/>
          </a:prstGeom>
          <a:noFill/>
        </p:spPr>
        <p:txBody>
          <a:bodyPr wrap="none" rtlCol="0">
            <a:spAutoFit/>
          </a:bodyPr>
          <a:lstStyle/>
          <a:p>
            <a:r>
              <a:rPr lang="en-US" sz="4000" dirty="0">
                <a:solidFill>
                  <a:schemeClr val="bg2"/>
                </a:solidFill>
                <a:latin typeface="Roboto" panose="02000000000000000000" pitchFamily="2" charset="0"/>
                <a:ea typeface="Roboto" panose="02000000000000000000" pitchFamily="2" charset="0"/>
              </a:rPr>
              <a:t>Environment</a:t>
            </a:r>
          </a:p>
        </p:txBody>
      </p:sp>
      <p:sp>
        <p:nvSpPr>
          <p:cNvPr id="8" name="Rectangle 7">
            <a:extLst>
              <a:ext uri="{FF2B5EF4-FFF2-40B4-BE49-F238E27FC236}">
                <a16:creationId xmlns:a16="http://schemas.microsoft.com/office/drawing/2014/main" id="{5499C881-20AD-CA1C-12DB-7C063F7A3A9E}"/>
              </a:ext>
            </a:extLst>
          </p:cNvPr>
          <p:cNvSpPr/>
          <p:nvPr/>
        </p:nvSpPr>
        <p:spPr>
          <a:xfrm>
            <a:off x="1257300" y="6377925"/>
            <a:ext cx="5143530" cy="2514573"/>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u="sng" dirty="0">
                <a:solidFill>
                  <a:schemeClr val="bg1"/>
                </a:solidFill>
                <a:latin typeface="Roboto" panose="02000000000000000000" pitchFamily="2" charset="0"/>
                <a:ea typeface="Roboto" panose="02000000000000000000" pitchFamily="2" charset="0"/>
              </a:rPr>
              <a:t>Reward</a:t>
            </a:r>
            <a:endParaRPr lang="en-US" sz="3200" b="1" dirty="0">
              <a:solidFill>
                <a:schemeClr val="bg1"/>
              </a:solidFill>
              <a:latin typeface="Roboto" panose="02000000000000000000" pitchFamily="2" charset="0"/>
              <a:ea typeface="Roboto" panose="02000000000000000000" pitchFamily="2" charset="0"/>
            </a:endParaRPr>
          </a:p>
          <a:p>
            <a:pPr algn="ctr"/>
            <a:r>
              <a:rPr lang="en-US" sz="3200" dirty="0">
                <a:latin typeface="Roboto" panose="02000000000000000000" pitchFamily="2" charset="0"/>
                <a:ea typeface="Roboto" panose="02000000000000000000" pitchFamily="2" charset="0"/>
              </a:rPr>
              <a:t>alive - (A*pitch^2) - (B*action^2) - (C*(x^2 + y^2)) - D*abs(</a:t>
            </a:r>
            <a:r>
              <a:rPr lang="en-US" sz="3200" dirty="0" err="1">
                <a:latin typeface="Roboto" panose="02000000000000000000" pitchFamily="2" charset="0"/>
                <a:ea typeface="Roboto" panose="02000000000000000000" pitchFamily="2" charset="0"/>
              </a:rPr>
              <a:t>yaw_rate</a:t>
            </a:r>
            <a:r>
              <a:rPr lang="en-US" sz="3200" dirty="0">
                <a:latin typeface="Roboto" panose="02000000000000000000" pitchFamily="2" charset="0"/>
                <a:ea typeface="Roboto" panose="02000000000000000000" pitchFamily="2" charset="0"/>
              </a:rPr>
              <a:t>)</a:t>
            </a:r>
          </a:p>
        </p:txBody>
      </p:sp>
      <p:cxnSp>
        <p:nvCxnSpPr>
          <p:cNvPr id="22" name="Straight Arrow Connector 21">
            <a:extLst>
              <a:ext uri="{FF2B5EF4-FFF2-40B4-BE49-F238E27FC236}">
                <a16:creationId xmlns:a16="http://schemas.microsoft.com/office/drawing/2014/main" id="{859C416B-1C6F-A57E-FF01-1F6848A3E214}"/>
              </a:ext>
            </a:extLst>
          </p:cNvPr>
          <p:cNvCxnSpPr>
            <a:cxnSpLocks/>
          </p:cNvCxnSpPr>
          <p:nvPr/>
        </p:nvCxnSpPr>
        <p:spPr>
          <a:xfrm>
            <a:off x="6625627" y="7550682"/>
            <a:ext cx="1990693" cy="466345"/>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832FFDC-4879-391C-CE72-C7E8A03174CE}"/>
              </a:ext>
            </a:extLst>
          </p:cNvPr>
          <p:cNvSpPr/>
          <p:nvPr/>
        </p:nvSpPr>
        <p:spPr>
          <a:xfrm>
            <a:off x="12658866" y="7982897"/>
            <a:ext cx="4714002" cy="1735026"/>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u="sng" dirty="0">
                <a:solidFill>
                  <a:schemeClr val="bg1"/>
                </a:solidFill>
                <a:latin typeface="Roboto" panose="02000000000000000000" pitchFamily="2" charset="0"/>
                <a:ea typeface="Roboto" panose="02000000000000000000" pitchFamily="2" charset="0"/>
              </a:rPr>
              <a:t>Action</a:t>
            </a:r>
          </a:p>
          <a:p>
            <a:pPr algn="ctr"/>
            <a:r>
              <a:rPr lang="en-US" sz="3200" dirty="0">
                <a:solidFill>
                  <a:schemeClr val="bg1"/>
                </a:solidFill>
                <a:latin typeface="Roboto" panose="02000000000000000000" pitchFamily="2" charset="0"/>
                <a:ea typeface="Roboto" panose="02000000000000000000" pitchFamily="2" charset="0"/>
              </a:rPr>
              <a:t>Left motor: [-1.0, 1.0]</a:t>
            </a:r>
          </a:p>
          <a:p>
            <a:pPr algn="ctr"/>
            <a:r>
              <a:rPr lang="en-US" sz="3200" dirty="0">
                <a:solidFill>
                  <a:schemeClr val="bg1"/>
                </a:solidFill>
                <a:latin typeface="Roboto" panose="02000000000000000000" pitchFamily="2" charset="0"/>
                <a:ea typeface="Roboto" panose="02000000000000000000" pitchFamily="2" charset="0"/>
              </a:rPr>
              <a:t>Right motor: [-1.0, 1.0]</a:t>
            </a:r>
          </a:p>
        </p:txBody>
      </p:sp>
      <p:sp>
        <p:nvSpPr>
          <p:cNvPr id="21" name="TextBox 20">
            <a:extLst>
              <a:ext uri="{FF2B5EF4-FFF2-40B4-BE49-F238E27FC236}">
                <a16:creationId xmlns:a16="http://schemas.microsoft.com/office/drawing/2014/main" id="{D11F4D5F-7FE8-A932-8D04-02B468B424C9}"/>
              </a:ext>
            </a:extLst>
          </p:cNvPr>
          <p:cNvSpPr txBox="1"/>
          <p:nvPr/>
        </p:nvSpPr>
        <p:spPr>
          <a:xfrm>
            <a:off x="11013357" y="3180420"/>
            <a:ext cx="1215397" cy="584775"/>
          </a:xfrm>
          <a:prstGeom prst="rect">
            <a:avLst/>
          </a:prstGeom>
          <a:noFill/>
        </p:spPr>
        <p:txBody>
          <a:bodyPr wrap="none" rtlCol="0">
            <a:spAutoFit/>
          </a:bodyPr>
          <a:lstStyle/>
          <a:p>
            <a:r>
              <a:rPr lang="en-US" sz="3200" dirty="0">
                <a:solidFill>
                  <a:schemeClr val="bg1"/>
                </a:solidFill>
                <a:latin typeface="Roboto" panose="02000000000000000000" pitchFamily="2" charset="0"/>
                <a:ea typeface="Roboto" panose="02000000000000000000" pitchFamily="2" charset="0"/>
              </a:rPr>
              <a:t>Bala2</a:t>
            </a:r>
          </a:p>
        </p:txBody>
      </p:sp>
    </p:spTree>
    <p:extLst>
      <p:ext uri="{BB962C8B-B14F-4D97-AF65-F5344CB8AC3E}">
        <p14:creationId xmlns:p14="http://schemas.microsoft.com/office/powerpoint/2010/main" val="3997093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84988-30F3-7EE1-1BD0-8CA8A84C1229}"/>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130795DE-C125-3E21-0BD6-7A2C6A698DAF}"/>
              </a:ext>
            </a:extLst>
          </p:cNvPr>
          <p:cNvSpPr/>
          <p:nvPr/>
        </p:nvSpPr>
        <p:spPr>
          <a:xfrm>
            <a:off x="1257300" y="2802424"/>
            <a:ext cx="5143530" cy="3438336"/>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u="sng" dirty="0">
                <a:solidFill>
                  <a:schemeClr val="bg1"/>
                </a:solidFill>
                <a:latin typeface="Roboto" panose="02000000000000000000" pitchFamily="2" charset="0"/>
                <a:ea typeface="Roboto" panose="02000000000000000000" pitchFamily="2" charset="0"/>
              </a:rPr>
              <a:t>Observation</a:t>
            </a:r>
            <a:endParaRPr lang="en-US" sz="3200" b="1" dirty="0">
              <a:solidFill>
                <a:schemeClr val="bg1"/>
              </a:solidFill>
              <a:latin typeface="Roboto" panose="02000000000000000000" pitchFamily="2" charset="0"/>
              <a:ea typeface="Roboto" panose="02000000000000000000" pitchFamily="2" charset="0"/>
            </a:endParaRPr>
          </a:p>
          <a:p>
            <a:pPr algn="ctr"/>
            <a:endParaRPr lang="en-US" sz="800" b="1" dirty="0">
              <a:solidFill>
                <a:schemeClr val="bg1"/>
              </a:solidFill>
              <a:latin typeface="Roboto" panose="02000000000000000000" pitchFamily="2" charset="0"/>
              <a:ea typeface="Roboto" panose="02000000000000000000" pitchFamily="2" charset="0"/>
            </a:endParaRPr>
          </a:p>
          <a:p>
            <a:pPr algn="ctr"/>
            <a:r>
              <a:rPr lang="en-US" sz="3200" b="1" dirty="0">
                <a:solidFill>
                  <a:schemeClr val="bg1"/>
                </a:solidFill>
                <a:latin typeface="Roboto" panose="02000000000000000000" pitchFamily="2" charset="0"/>
                <a:ea typeface="Roboto" panose="02000000000000000000" pitchFamily="2" charset="0"/>
              </a:rPr>
              <a:t>IMU</a:t>
            </a:r>
            <a:r>
              <a:rPr lang="en-US" sz="3200" dirty="0">
                <a:solidFill>
                  <a:schemeClr val="bg1"/>
                </a:solidFill>
                <a:latin typeface="Roboto" panose="02000000000000000000" pitchFamily="2" charset="0"/>
                <a:ea typeface="Roboto" panose="02000000000000000000" pitchFamily="2" charset="0"/>
              </a:rPr>
              <a:t>: </a:t>
            </a:r>
          </a:p>
          <a:p>
            <a:pPr algn="ctr"/>
            <a:r>
              <a:rPr lang="en-US" sz="3200" dirty="0">
                <a:solidFill>
                  <a:schemeClr val="bg1"/>
                </a:solidFill>
                <a:latin typeface="Roboto" panose="02000000000000000000" pitchFamily="2" charset="0"/>
                <a:ea typeface="Roboto" panose="02000000000000000000" pitchFamily="2" charset="0"/>
              </a:rPr>
              <a:t>pitch, pitch rate</a:t>
            </a:r>
          </a:p>
          <a:p>
            <a:pPr algn="ctr"/>
            <a:endParaRPr lang="en-US" sz="800" dirty="0">
              <a:solidFill>
                <a:schemeClr val="bg1"/>
              </a:solidFill>
              <a:latin typeface="Roboto" panose="02000000000000000000" pitchFamily="2" charset="0"/>
              <a:ea typeface="Roboto" panose="02000000000000000000" pitchFamily="2" charset="0"/>
            </a:endParaRPr>
          </a:p>
          <a:p>
            <a:pPr algn="ctr"/>
            <a:r>
              <a:rPr lang="en-US" sz="3200" b="1" dirty="0">
                <a:solidFill>
                  <a:schemeClr val="bg1"/>
                </a:solidFill>
                <a:latin typeface="Roboto" panose="02000000000000000000" pitchFamily="2" charset="0"/>
                <a:ea typeface="Roboto" panose="02000000000000000000" pitchFamily="2" charset="0"/>
              </a:rPr>
              <a:t>Estimate:</a:t>
            </a:r>
          </a:p>
          <a:p>
            <a:pPr algn="ctr"/>
            <a:r>
              <a:rPr lang="en-US" sz="3200" dirty="0">
                <a:solidFill>
                  <a:schemeClr val="bg1"/>
                </a:solidFill>
                <a:latin typeface="Roboto" panose="02000000000000000000" pitchFamily="2" charset="0"/>
                <a:ea typeface="Roboto" panose="02000000000000000000" pitchFamily="2" charset="0"/>
              </a:rPr>
              <a:t>velocity, yaw rate, position, heading</a:t>
            </a:r>
          </a:p>
        </p:txBody>
      </p:sp>
      <p:sp>
        <p:nvSpPr>
          <p:cNvPr id="8" name="Rectangle 7">
            <a:extLst>
              <a:ext uri="{FF2B5EF4-FFF2-40B4-BE49-F238E27FC236}">
                <a16:creationId xmlns:a16="http://schemas.microsoft.com/office/drawing/2014/main" id="{4CE9E602-0506-5E52-A428-A4FD1A9F8D2B}"/>
              </a:ext>
            </a:extLst>
          </p:cNvPr>
          <p:cNvSpPr/>
          <p:nvPr/>
        </p:nvSpPr>
        <p:spPr>
          <a:xfrm>
            <a:off x="1253499" y="6377925"/>
            <a:ext cx="5147331" cy="2514573"/>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u="sng" dirty="0">
                <a:solidFill>
                  <a:schemeClr val="bg1"/>
                </a:solidFill>
                <a:latin typeface="Roboto" panose="02000000000000000000" pitchFamily="2" charset="0"/>
                <a:ea typeface="Roboto" panose="02000000000000000000" pitchFamily="2" charset="0"/>
              </a:rPr>
              <a:t>Reward</a:t>
            </a:r>
            <a:endParaRPr lang="en-US" sz="3200" b="1" dirty="0">
              <a:solidFill>
                <a:schemeClr val="bg1"/>
              </a:solidFill>
              <a:latin typeface="Roboto" panose="02000000000000000000" pitchFamily="2" charset="0"/>
              <a:ea typeface="Roboto" panose="02000000000000000000" pitchFamily="2" charset="0"/>
            </a:endParaRPr>
          </a:p>
          <a:p>
            <a:pPr algn="ctr"/>
            <a:r>
              <a:rPr lang="en-US" sz="2800" dirty="0">
                <a:latin typeface="Roboto" panose="02000000000000000000" pitchFamily="2" charset="0"/>
                <a:ea typeface="Roboto" panose="02000000000000000000" pitchFamily="2" charset="0"/>
              </a:rPr>
              <a:t>alive - (A*pitch_err^2) - (B*action^2) - (C*cmd_vel^2) – (D*cmd_pos^2) – (E*heading_est^2)</a:t>
            </a:r>
          </a:p>
        </p:txBody>
      </p:sp>
      <p:sp>
        <p:nvSpPr>
          <p:cNvPr id="63" name="Freeform: Shape 62">
            <a:extLst>
              <a:ext uri="{FF2B5EF4-FFF2-40B4-BE49-F238E27FC236}">
                <a16:creationId xmlns:a16="http://schemas.microsoft.com/office/drawing/2014/main" id="{B920B0E5-BC2B-C9A1-083F-AAF5FA729987}"/>
              </a:ext>
            </a:extLst>
          </p:cNvPr>
          <p:cNvSpPr/>
          <p:nvPr/>
        </p:nvSpPr>
        <p:spPr>
          <a:xfrm>
            <a:off x="915132" y="1851696"/>
            <a:ext cx="16461537" cy="7222991"/>
          </a:xfrm>
          <a:custGeom>
            <a:avLst/>
            <a:gdLst>
              <a:gd name="csX0" fmla="*/ 16623323 w 16810892"/>
              <a:gd name="csY0" fmla="*/ 93785 h 7831015"/>
              <a:gd name="csX1" fmla="*/ 0 w 16810892"/>
              <a:gd name="csY1" fmla="*/ 0 h 7831015"/>
              <a:gd name="csX2" fmla="*/ 93784 w 16810892"/>
              <a:gd name="csY2" fmla="*/ 7831015 h 7831015"/>
              <a:gd name="csX3" fmla="*/ 5416061 w 16810892"/>
              <a:gd name="csY3" fmla="*/ 7713785 h 7831015"/>
              <a:gd name="csX4" fmla="*/ 7690338 w 16810892"/>
              <a:gd name="csY4" fmla="*/ 5322277 h 7831015"/>
              <a:gd name="csX5" fmla="*/ 16810892 w 16810892"/>
              <a:gd name="csY5" fmla="*/ 5509846 h 7831015"/>
              <a:gd name="csX6" fmla="*/ 16670215 w 16810892"/>
              <a:gd name="csY6" fmla="*/ 492369 h 7831015"/>
              <a:gd name="csX0" fmla="*/ 16623323 w 16810892"/>
              <a:gd name="csY0" fmla="*/ 93785 h 7831015"/>
              <a:gd name="csX1" fmla="*/ 0 w 16810892"/>
              <a:gd name="csY1" fmla="*/ 0 h 7831015"/>
              <a:gd name="csX2" fmla="*/ 93784 w 16810892"/>
              <a:gd name="csY2" fmla="*/ 7831015 h 7831015"/>
              <a:gd name="csX3" fmla="*/ 5416061 w 16810892"/>
              <a:gd name="csY3" fmla="*/ 7713785 h 7831015"/>
              <a:gd name="csX4" fmla="*/ 7690338 w 16810892"/>
              <a:gd name="csY4" fmla="*/ 5322277 h 7831015"/>
              <a:gd name="csX5" fmla="*/ 16810892 w 16810892"/>
              <a:gd name="csY5" fmla="*/ 5509846 h 7831015"/>
              <a:gd name="csX6" fmla="*/ 16627543 w 16810892"/>
              <a:gd name="csY6" fmla="*/ 102225 h 7831015"/>
              <a:gd name="csX0" fmla="*/ 16623323 w 16635111"/>
              <a:gd name="csY0" fmla="*/ 93785 h 7831015"/>
              <a:gd name="csX1" fmla="*/ 0 w 16635111"/>
              <a:gd name="csY1" fmla="*/ 0 h 7831015"/>
              <a:gd name="csX2" fmla="*/ 93784 w 16635111"/>
              <a:gd name="csY2" fmla="*/ 7831015 h 7831015"/>
              <a:gd name="csX3" fmla="*/ 5416061 w 16635111"/>
              <a:gd name="csY3" fmla="*/ 7713785 h 7831015"/>
              <a:gd name="csX4" fmla="*/ 7690338 w 16635111"/>
              <a:gd name="csY4" fmla="*/ 5322277 h 7831015"/>
              <a:gd name="csX5" fmla="*/ 16533100 w 16635111"/>
              <a:gd name="csY5" fmla="*/ 5498271 h 7831015"/>
              <a:gd name="csX6" fmla="*/ 16627543 w 16635111"/>
              <a:gd name="csY6" fmla="*/ 102225 h 7831015"/>
              <a:gd name="csX0" fmla="*/ 16623323 w 16657528"/>
              <a:gd name="csY0" fmla="*/ 93785 h 7831015"/>
              <a:gd name="csX1" fmla="*/ 0 w 16657528"/>
              <a:gd name="csY1" fmla="*/ 0 h 7831015"/>
              <a:gd name="csX2" fmla="*/ 93784 w 16657528"/>
              <a:gd name="csY2" fmla="*/ 7831015 h 7831015"/>
              <a:gd name="csX3" fmla="*/ 5416061 w 16657528"/>
              <a:gd name="csY3" fmla="*/ 7713785 h 7831015"/>
              <a:gd name="csX4" fmla="*/ 7690338 w 16657528"/>
              <a:gd name="csY4" fmla="*/ 5322277 h 7831015"/>
              <a:gd name="csX5" fmla="*/ 16533100 w 16657528"/>
              <a:gd name="csY5" fmla="*/ 5498271 h 7831015"/>
              <a:gd name="csX6" fmla="*/ 16650692 w 16657528"/>
              <a:gd name="csY6" fmla="*/ 67501 h 7831015"/>
              <a:gd name="csX0" fmla="*/ 16623323 w 16671996"/>
              <a:gd name="csY0" fmla="*/ 93785 h 7831015"/>
              <a:gd name="csX1" fmla="*/ 0 w 16671996"/>
              <a:gd name="csY1" fmla="*/ 0 h 7831015"/>
              <a:gd name="csX2" fmla="*/ 93784 w 16671996"/>
              <a:gd name="csY2" fmla="*/ 7831015 h 7831015"/>
              <a:gd name="csX3" fmla="*/ 5416061 w 16671996"/>
              <a:gd name="csY3" fmla="*/ 7713785 h 7831015"/>
              <a:gd name="csX4" fmla="*/ 7690338 w 16671996"/>
              <a:gd name="csY4" fmla="*/ 5322277 h 7831015"/>
              <a:gd name="csX5" fmla="*/ 16671996 w 16671996"/>
              <a:gd name="csY5" fmla="*/ 5486696 h 7831015"/>
              <a:gd name="csX6" fmla="*/ 16650692 w 16671996"/>
              <a:gd name="csY6" fmla="*/ 67501 h 7831015"/>
              <a:gd name="csX0" fmla="*/ 16623323 w 16656855"/>
              <a:gd name="csY0" fmla="*/ 93785 h 7831015"/>
              <a:gd name="csX1" fmla="*/ 0 w 16656855"/>
              <a:gd name="csY1" fmla="*/ 0 h 7831015"/>
              <a:gd name="csX2" fmla="*/ 93784 w 16656855"/>
              <a:gd name="csY2" fmla="*/ 7831015 h 7831015"/>
              <a:gd name="csX3" fmla="*/ 5416061 w 16656855"/>
              <a:gd name="csY3" fmla="*/ 7713785 h 7831015"/>
              <a:gd name="csX4" fmla="*/ 7690338 w 16656855"/>
              <a:gd name="csY4" fmla="*/ 5322277 h 7831015"/>
              <a:gd name="csX5" fmla="*/ 16506896 w 16656855"/>
              <a:gd name="csY5" fmla="*/ 5400336 h 7831015"/>
              <a:gd name="csX6" fmla="*/ 16650692 w 16656855"/>
              <a:gd name="csY6" fmla="*/ 67501 h 7831015"/>
              <a:gd name="csX0" fmla="*/ 16509023 w 16656855"/>
              <a:gd name="csY0" fmla="*/ 96325 h 7831015"/>
              <a:gd name="csX1" fmla="*/ 0 w 16656855"/>
              <a:gd name="csY1" fmla="*/ 0 h 7831015"/>
              <a:gd name="csX2" fmla="*/ 93784 w 16656855"/>
              <a:gd name="csY2" fmla="*/ 7831015 h 7831015"/>
              <a:gd name="csX3" fmla="*/ 5416061 w 16656855"/>
              <a:gd name="csY3" fmla="*/ 7713785 h 7831015"/>
              <a:gd name="csX4" fmla="*/ 7690338 w 16656855"/>
              <a:gd name="csY4" fmla="*/ 5322277 h 7831015"/>
              <a:gd name="csX5" fmla="*/ 16506896 w 16656855"/>
              <a:gd name="csY5" fmla="*/ 5400336 h 7831015"/>
              <a:gd name="csX6" fmla="*/ 16650692 w 16656855"/>
              <a:gd name="csY6" fmla="*/ 67501 h 7831015"/>
              <a:gd name="csX0" fmla="*/ 16509023 w 16521811"/>
              <a:gd name="csY0" fmla="*/ 96325 h 7831015"/>
              <a:gd name="csX1" fmla="*/ 0 w 16521811"/>
              <a:gd name="csY1" fmla="*/ 0 h 7831015"/>
              <a:gd name="csX2" fmla="*/ 93784 w 16521811"/>
              <a:gd name="csY2" fmla="*/ 7831015 h 7831015"/>
              <a:gd name="csX3" fmla="*/ 5416061 w 16521811"/>
              <a:gd name="csY3" fmla="*/ 7713785 h 7831015"/>
              <a:gd name="csX4" fmla="*/ 7690338 w 16521811"/>
              <a:gd name="csY4" fmla="*/ 5322277 h 7831015"/>
              <a:gd name="csX5" fmla="*/ 16506896 w 16521811"/>
              <a:gd name="csY5" fmla="*/ 5400336 h 7831015"/>
              <a:gd name="csX6" fmla="*/ 16508452 w 16521811"/>
              <a:gd name="csY6" fmla="*/ 95441 h 7831015"/>
              <a:gd name="csX0" fmla="*/ 16509023 w 16509023"/>
              <a:gd name="csY0" fmla="*/ 96325 h 7831015"/>
              <a:gd name="csX1" fmla="*/ 0 w 16509023"/>
              <a:gd name="csY1" fmla="*/ 0 h 7831015"/>
              <a:gd name="csX2" fmla="*/ 93784 w 16509023"/>
              <a:gd name="csY2" fmla="*/ 7831015 h 7831015"/>
              <a:gd name="csX3" fmla="*/ 5416061 w 16509023"/>
              <a:gd name="csY3" fmla="*/ 7713785 h 7831015"/>
              <a:gd name="csX4" fmla="*/ 7690338 w 16509023"/>
              <a:gd name="csY4" fmla="*/ 5322277 h 7831015"/>
              <a:gd name="csX5" fmla="*/ 16506896 w 16509023"/>
              <a:gd name="csY5" fmla="*/ 5400336 h 7831015"/>
              <a:gd name="csX6" fmla="*/ 16508452 w 16509023"/>
              <a:gd name="csY6" fmla="*/ 95441 h 7831015"/>
              <a:gd name="csX0" fmla="*/ 16509023 w 16510685"/>
              <a:gd name="csY0" fmla="*/ 96325 h 7831015"/>
              <a:gd name="csX1" fmla="*/ 0 w 16510685"/>
              <a:gd name="csY1" fmla="*/ 0 h 7831015"/>
              <a:gd name="csX2" fmla="*/ 93784 w 16510685"/>
              <a:gd name="csY2" fmla="*/ 7831015 h 7831015"/>
              <a:gd name="csX3" fmla="*/ 5416061 w 16510685"/>
              <a:gd name="csY3" fmla="*/ 7713785 h 7831015"/>
              <a:gd name="csX4" fmla="*/ 7690338 w 16510685"/>
              <a:gd name="csY4" fmla="*/ 5322277 h 7831015"/>
              <a:gd name="csX5" fmla="*/ 16506896 w 16510685"/>
              <a:gd name="csY5" fmla="*/ 5400336 h 7831015"/>
              <a:gd name="csX6" fmla="*/ 16508452 w 16510685"/>
              <a:gd name="csY6" fmla="*/ 95441 h 7831015"/>
              <a:gd name="csX0" fmla="*/ 16509023 w 16510685"/>
              <a:gd name="csY0" fmla="*/ 96325 h 7831015"/>
              <a:gd name="csX1" fmla="*/ 0 w 16510685"/>
              <a:gd name="csY1" fmla="*/ 0 h 7831015"/>
              <a:gd name="csX2" fmla="*/ 93784 w 16510685"/>
              <a:gd name="csY2" fmla="*/ 7831015 h 7831015"/>
              <a:gd name="csX3" fmla="*/ 5416061 w 16510685"/>
              <a:gd name="csY3" fmla="*/ 7713785 h 7831015"/>
              <a:gd name="csX4" fmla="*/ 7690338 w 16510685"/>
              <a:gd name="csY4" fmla="*/ 5322277 h 7831015"/>
              <a:gd name="csX5" fmla="*/ 16506896 w 16510685"/>
              <a:gd name="csY5" fmla="*/ 5313976 h 7831015"/>
              <a:gd name="csX6" fmla="*/ 16508452 w 16510685"/>
              <a:gd name="csY6" fmla="*/ 95441 h 7831015"/>
              <a:gd name="csX0" fmla="*/ 16509023 w 16510685"/>
              <a:gd name="csY0" fmla="*/ 96325 h 7831015"/>
              <a:gd name="csX1" fmla="*/ 0 w 16510685"/>
              <a:gd name="csY1" fmla="*/ 0 h 7831015"/>
              <a:gd name="csX2" fmla="*/ 93784 w 16510685"/>
              <a:gd name="csY2" fmla="*/ 7831015 h 7831015"/>
              <a:gd name="csX3" fmla="*/ 5416061 w 16510685"/>
              <a:gd name="csY3" fmla="*/ 7713785 h 7831015"/>
              <a:gd name="csX4" fmla="*/ 7690338 w 16510685"/>
              <a:gd name="csY4" fmla="*/ 5322277 h 7831015"/>
              <a:gd name="csX5" fmla="*/ 16506896 w 16510685"/>
              <a:gd name="csY5" fmla="*/ 5313976 h 7831015"/>
              <a:gd name="csX6" fmla="*/ 16508452 w 16510685"/>
              <a:gd name="csY6" fmla="*/ 87821 h 7831015"/>
              <a:gd name="csX0" fmla="*/ 16509023 w 16510685"/>
              <a:gd name="csY0" fmla="*/ 96325 h 7831015"/>
              <a:gd name="csX1" fmla="*/ 0 w 16510685"/>
              <a:gd name="csY1" fmla="*/ 0 h 7831015"/>
              <a:gd name="csX2" fmla="*/ 93784 w 16510685"/>
              <a:gd name="csY2" fmla="*/ 7831015 h 7831015"/>
              <a:gd name="csX3" fmla="*/ 5535441 w 16510685"/>
              <a:gd name="csY3" fmla="*/ 7408985 h 7831015"/>
              <a:gd name="csX4" fmla="*/ 7690338 w 16510685"/>
              <a:gd name="csY4" fmla="*/ 5322277 h 7831015"/>
              <a:gd name="csX5" fmla="*/ 16506896 w 16510685"/>
              <a:gd name="csY5" fmla="*/ 5313976 h 7831015"/>
              <a:gd name="csX6" fmla="*/ 16508452 w 16510685"/>
              <a:gd name="csY6" fmla="*/ 87821 h 7831015"/>
              <a:gd name="csX0" fmla="*/ 16509023 w 16510685"/>
              <a:gd name="csY0" fmla="*/ 96325 h 7408985"/>
              <a:gd name="csX1" fmla="*/ 0 w 16510685"/>
              <a:gd name="csY1" fmla="*/ 0 h 7408985"/>
              <a:gd name="csX2" fmla="*/ 55684 w 16510685"/>
              <a:gd name="csY2" fmla="*/ 7404295 h 7408985"/>
              <a:gd name="csX3" fmla="*/ 5535441 w 16510685"/>
              <a:gd name="csY3" fmla="*/ 7408985 h 7408985"/>
              <a:gd name="csX4" fmla="*/ 7690338 w 16510685"/>
              <a:gd name="csY4" fmla="*/ 5322277 h 7408985"/>
              <a:gd name="csX5" fmla="*/ 16506896 w 16510685"/>
              <a:gd name="csY5" fmla="*/ 5313976 h 7408985"/>
              <a:gd name="csX6" fmla="*/ 16508452 w 16510685"/>
              <a:gd name="csY6" fmla="*/ 87821 h 7408985"/>
              <a:gd name="csX0" fmla="*/ 16509023 w 16510685"/>
              <a:gd name="csY0" fmla="*/ 96325 h 7410010"/>
              <a:gd name="csX1" fmla="*/ 0 w 16510685"/>
              <a:gd name="csY1" fmla="*/ 0 h 7410010"/>
              <a:gd name="csX2" fmla="*/ 48064 w 16510685"/>
              <a:gd name="csY2" fmla="*/ 7410010 h 7410010"/>
              <a:gd name="csX3" fmla="*/ 5535441 w 16510685"/>
              <a:gd name="csY3" fmla="*/ 7408985 h 7410010"/>
              <a:gd name="csX4" fmla="*/ 7690338 w 16510685"/>
              <a:gd name="csY4" fmla="*/ 5322277 h 7410010"/>
              <a:gd name="csX5" fmla="*/ 16506896 w 16510685"/>
              <a:gd name="csY5" fmla="*/ 5313976 h 7410010"/>
              <a:gd name="csX6" fmla="*/ 16508452 w 16510685"/>
              <a:gd name="csY6" fmla="*/ 87821 h 7410010"/>
              <a:gd name="csX0" fmla="*/ 16461398 w 16463060"/>
              <a:gd name="csY0" fmla="*/ 88705 h 7402390"/>
              <a:gd name="csX1" fmla="*/ 0 w 16463060"/>
              <a:gd name="csY1" fmla="*/ 0 h 7402390"/>
              <a:gd name="csX2" fmla="*/ 439 w 16463060"/>
              <a:gd name="csY2" fmla="*/ 7402390 h 7402390"/>
              <a:gd name="csX3" fmla="*/ 5487816 w 16463060"/>
              <a:gd name="csY3" fmla="*/ 7401365 h 7402390"/>
              <a:gd name="csX4" fmla="*/ 7642713 w 16463060"/>
              <a:gd name="csY4" fmla="*/ 5314657 h 7402390"/>
              <a:gd name="csX5" fmla="*/ 16459271 w 16463060"/>
              <a:gd name="csY5" fmla="*/ 5306356 h 7402390"/>
              <a:gd name="csX6" fmla="*/ 16460827 w 16463060"/>
              <a:gd name="csY6" fmla="*/ 80201 h 7402390"/>
              <a:gd name="csX0" fmla="*/ 16461398 w 16461537"/>
              <a:gd name="csY0" fmla="*/ 90419 h 7404104"/>
              <a:gd name="csX1" fmla="*/ 0 w 16461537"/>
              <a:gd name="csY1" fmla="*/ 1714 h 7404104"/>
              <a:gd name="csX2" fmla="*/ 439 w 16461537"/>
              <a:gd name="csY2" fmla="*/ 7404104 h 7404104"/>
              <a:gd name="csX3" fmla="*/ 5487816 w 16461537"/>
              <a:gd name="csY3" fmla="*/ 7403079 h 7404104"/>
              <a:gd name="csX4" fmla="*/ 7642713 w 16461537"/>
              <a:gd name="csY4" fmla="*/ 5316371 h 7404104"/>
              <a:gd name="csX5" fmla="*/ 16459271 w 16461537"/>
              <a:gd name="csY5" fmla="*/ 5308070 h 7404104"/>
              <a:gd name="csX6" fmla="*/ 16458922 w 16461537"/>
              <a:gd name="csY6" fmla="*/ 0 h 7404104"/>
              <a:gd name="csX0" fmla="*/ 16455683 w 16461537"/>
              <a:gd name="csY0" fmla="*/ 0 h 7405125"/>
              <a:gd name="csX1" fmla="*/ 0 w 16461537"/>
              <a:gd name="csY1" fmla="*/ 2735 h 7405125"/>
              <a:gd name="csX2" fmla="*/ 439 w 16461537"/>
              <a:gd name="csY2" fmla="*/ 7405125 h 7405125"/>
              <a:gd name="csX3" fmla="*/ 5487816 w 16461537"/>
              <a:gd name="csY3" fmla="*/ 7404100 h 7405125"/>
              <a:gd name="csX4" fmla="*/ 7642713 w 16461537"/>
              <a:gd name="csY4" fmla="*/ 5317392 h 7405125"/>
              <a:gd name="csX5" fmla="*/ 16459271 w 16461537"/>
              <a:gd name="csY5" fmla="*/ 5309091 h 7405125"/>
              <a:gd name="csX6" fmla="*/ 16458922 w 16461537"/>
              <a:gd name="csY6" fmla="*/ 1021 h 74051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461537" h="7405125">
                <a:moveTo>
                  <a:pt x="16455683" y="0"/>
                </a:moveTo>
                <a:lnTo>
                  <a:pt x="0" y="2735"/>
                </a:lnTo>
                <a:cubicBezTo>
                  <a:pt x="146" y="2470198"/>
                  <a:pt x="293" y="4937662"/>
                  <a:pt x="439" y="7405125"/>
                </a:cubicBezTo>
                <a:lnTo>
                  <a:pt x="5487816" y="7404100"/>
                </a:lnTo>
                <a:lnTo>
                  <a:pt x="7642713" y="5317392"/>
                </a:lnTo>
                <a:lnTo>
                  <a:pt x="16459271" y="5309091"/>
                </a:lnTo>
                <a:cubicBezTo>
                  <a:pt x="16458099" y="3649299"/>
                  <a:pt x="16465174" y="1673513"/>
                  <a:pt x="16458922" y="1021"/>
                </a:cubicBezTo>
              </a:path>
            </a:pathLst>
          </a:custGeom>
          <a:noFill/>
          <a:ln w="57150" cap="rnd">
            <a:solidFill>
              <a:srgbClr val="D3A269"/>
            </a:solidFill>
            <a:prstDash val="dash"/>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A0CCF1D-67D2-7306-EFAE-99861DA470DF}"/>
              </a:ext>
            </a:extLst>
          </p:cNvPr>
          <p:cNvSpPr>
            <a:spLocks noGrp="1"/>
          </p:cNvSpPr>
          <p:nvPr>
            <p:ph type="title"/>
          </p:nvPr>
        </p:nvSpPr>
        <p:spPr>
          <a:xfrm>
            <a:off x="1257300" y="0"/>
            <a:ext cx="15773400" cy="1988345"/>
          </a:xfrm>
        </p:spPr>
        <p:txBody>
          <a:bodyPr/>
          <a:lstStyle/>
          <a:p>
            <a:pPr algn="ctr"/>
            <a:r>
              <a:rPr lang="en-US" dirty="0"/>
              <a:t>Reinforcement Learning: Balance Bot</a:t>
            </a:r>
          </a:p>
        </p:txBody>
      </p:sp>
      <p:sp>
        <p:nvSpPr>
          <p:cNvPr id="3" name="Oval 2">
            <a:extLst>
              <a:ext uri="{FF2B5EF4-FFF2-40B4-BE49-F238E27FC236}">
                <a16:creationId xmlns:a16="http://schemas.microsoft.com/office/drawing/2014/main" id="{86FB01E5-1D6F-48DA-0F6E-C02DE68B57C4}"/>
              </a:ext>
            </a:extLst>
          </p:cNvPr>
          <p:cNvSpPr/>
          <p:nvPr/>
        </p:nvSpPr>
        <p:spPr>
          <a:xfrm>
            <a:off x="8574165" y="7246597"/>
            <a:ext cx="2416004" cy="24160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latin typeface="Roboto" panose="02000000000000000000" pitchFamily="2" charset="0"/>
                <a:ea typeface="Roboto" panose="02000000000000000000" pitchFamily="2" charset="0"/>
              </a:rPr>
              <a:t>Agent</a:t>
            </a:r>
          </a:p>
        </p:txBody>
      </p:sp>
      <p:grpSp>
        <p:nvGrpSpPr>
          <p:cNvPr id="24" name="Group 23">
            <a:extLst>
              <a:ext uri="{FF2B5EF4-FFF2-40B4-BE49-F238E27FC236}">
                <a16:creationId xmlns:a16="http://schemas.microsoft.com/office/drawing/2014/main" id="{A687B71E-22A2-DEA7-088F-9DD1418FA787}"/>
              </a:ext>
            </a:extLst>
          </p:cNvPr>
          <p:cNvGrpSpPr/>
          <p:nvPr/>
        </p:nvGrpSpPr>
        <p:grpSpPr>
          <a:xfrm rot="900000">
            <a:off x="9667156" y="3012906"/>
            <a:ext cx="661024" cy="1316343"/>
            <a:chOff x="9397366" y="3040403"/>
            <a:chExt cx="661024" cy="1316343"/>
          </a:xfrm>
        </p:grpSpPr>
        <p:sp>
          <p:nvSpPr>
            <p:cNvPr id="20" name="Rectangle: Rounded Corners 19">
              <a:extLst>
                <a:ext uri="{FF2B5EF4-FFF2-40B4-BE49-F238E27FC236}">
                  <a16:creationId xmlns:a16="http://schemas.microsoft.com/office/drawing/2014/main" id="{69314CBA-76C2-306D-9CB8-8F8BCD284F01}"/>
                </a:ext>
              </a:extLst>
            </p:cNvPr>
            <p:cNvSpPr/>
            <p:nvPr/>
          </p:nvSpPr>
          <p:spPr>
            <a:xfrm>
              <a:off x="9397366" y="3366648"/>
              <a:ext cx="365756" cy="990098"/>
            </a:xfrm>
            <a:prstGeom prst="roundRect">
              <a:avLst>
                <a:gd name="adj" fmla="val 9616"/>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8F43F424-49C3-CABA-E0D8-732F8EE7DF69}"/>
                </a:ext>
              </a:extLst>
            </p:cNvPr>
            <p:cNvSpPr/>
            <p:nvPr/>
          </p:nvSpPr>
          <p:spPr>
            <a:xfrm>
              <a:off x="9763121" y="3040403"/>
              <a:ext cx="295269" cy="1188707"/>
            </a:xfrm>
            <a:prstGeom prst="roundRect">
              <a:avLst>
                <a:gd name="adj" fmla="val 9616"/>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Oval 3">
            <a:extLst>
              <a:ext uri="{FF2B5EF4-FFF2-40B4-BE49-F238E27FC236}">
                <a16:creationId xmlns:a16="http://schemas.microsoft.com/office/drawing/2014/main" id="{BBBF40EB-7DAE-1138-ABC6-53282FA0346B}"/>
              </a:ext>
            </a:extLst>
          </p:cNvPr>
          <p:cNvSpPr/>
          <p:nvPr/>
        </p:nvSpPr>
        <p:spPr>
          <a:xfrm>
            <a:off x="9144000" y="3863354"/>
            <a:ext cx="1280146" cy="1280146"/>
          </a:xfrm>
          <a:prstGeom prst="ellipse">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F7CBA93-11D0-28C5-8101-B790963BD2F1}"/>
              </a:ext>
            </a:extLst>
          </p:cNvPr>
          <p:cNvSpPr/>
          <p:nvPr/>
        </p:nvSpPr>
        <p:spPr>
          <a:xfrm>
            <a:off x="9399275" y="4137671"/>
            <a:ext cx="750554" cy="750554"/>
          </a:xfrm>
          <a:prstGeom prst="ellipse">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372939C6-05A7-C89B-F459-540FC1BBE14E}"/>
              </a:ext>
            </a:extLst>
          </p:cNvPr>
          <p:cNvGrpSpPr/>
          <p:nvPr/>
        </p:nvGrpSpPr>
        <p:grpSpPr>
          <a:xfrm>
            <a:off x="13715950" y="5417817"/>
            <a:ext cx="1737341" cy="640074"/>
            <a:chOff x="11429975" y="5234938"/>
            <a:chExt cx="1737341" cy="640074"/>
          </a:xfrm>
        </p:grpSpPr>
        <p:sp>
          <p:nvSpPr>
            <p:cNvPr id="12" name="Rectangle: Rounded Corners 11">
              <a:extLst>
                <a:ext uri="{FF2B5EF4-FFF2-40B4-BE49-F238E27FC236}">
                  <a16:creationId xmlns:a16="http://schemas.microsoft.com/office/drawing/2014/main" id="{F598DD8C-568E-44F9-8D92-FFE65B9E148E}"/>
                </a:ext>
              </a:extLst>
            </p:cNvPr>
            <p:cNvSpPr/>
            <p:nvPr/>
          </p:nvSpPr>
          <p:spPr>
            <a:xfrm>
              <a:off x="12344365" y="5234939"/>
              <a:ext cx="822951" cy="640073"/>
            </a:xfrm>
            <a:prstGeom prst="roundRect">
              <a:avLst>
                <a:gd name="adj" fmla="val 1000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1CB15837-AAF2-7AD7-7A21-1C7074B662B2}"/>
                </a:ext>
              </a:extLst>
            </p:cNvPr>
            <p:cNvSpPr/>
            <p:nvPr/>
          </p:nvSpPr>
          <p:spPr>
            <a:xfrm>
              <a:off x="11795731" y="5234938"/>
              <a:ext cx="640073" cy="640073"/>
            </a:xfrm>
            <a:prstGeom prst="roundRect">
              <a:avLst>
                <a:gd name="adj" fmla="val 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3A6E0B29-B152-8903-9541-A4D1B72BC3A6}"/>
                </a:ext>
              </a:extLst>
            </p:cNvPr>
            <p:cNvSpPr/>
            <p:nvPr/>
          </p:nvSpPr>
          <p:spPr>
            <a:xfrm>
              <a:off x="11429975" y="5509254"/>
              <a:ext cx="365756" cy="91439"/>
            </a:xfrm>
            <a:prstGeom prst="roundRect">
              <a:avLst>
                <a:gd name="adj" fmla="val 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4903BF18-212D-96B3-847C-52819BB44947}"/>
              </a:ext>
            </a:extLst>
          </p:cNvPr>
          <p:cNvGrpSpPr/>
          <p:nvPr/>
        </p:nvGrpSpPr>
        <p:grpSpPr>
          <a:xfrm>
            <a:off x="13533071" y="5737852"/>
            <a:ext cx="1737341" cy="640074"/>
            <a:chOff x="11429975" y="5234938"/>
            <a:chExt cx="1737341" cy="640074"/>
          </a:xfrm>
        </p:grpSpPr>
        <p:sp>
          <p:nvSpPr>
            <p:cNvPr id="17" name="Rectangle: Rounded Corners 16">
              <a:extLst>
                <a:ext uri="{FF2B5EF4-FFF2-40B4-BE49-F238E27FC236}">
                  <a16:creationId xmlns:a16="http://schemas.microsoft.com/office/drawing/2014/main" id="{EEE66378-91BA-24CF-332C-84C93D46F376}"/>
                </a:ext>
              </a:extLst>
            </p:cNvPr>
            <p:cNvSpPr/>
            <p:nvPr/>
          </p:nvSpPr>
          <p:spPr>
            <a:xfrm>
              <a:off x="12344365" y="5234939"/>
              <a:ext cx="822951" cy="640073"/>
            </a:xfrm>
            <a:prstGeom prst="roundRect">
              <a:avLst>
                <a:gd name="adj" fmla="val 1000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93A45264-E144-022D-021E-83CF5273F539}"/>
                </a:ext>
              </a:extLst>
            </p:cNvPr>
            <p:cNvSpPr/>
            <p:nvPr/>
          </p:nvSpPr>
          <p:spPr>
            <a:xfrm>
              <a:off x="11795731" y="5234938"/>
              <a:ext cx="640073" cy="640073"/>
            </a:xfrm>
            <a:prstGeom prst="roundRect">
              <a:avLst>
                <a:gd name="adj" fmla="val 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28CADA3B-BBFD-1FE0-D20F-5462E2851ABF}"/>
                </a:ext>
              </a:extLst>
            </p:cNvPr>
            <p:cNvSpPr/>
            <p:nvPr/>
          </p:nvSpPr>
          <p:spPr>
            <a:xfrm>
              <a:off x="11429975" y="5509254"/>
              <a:ext cx="365756" cy="91439"/>
            </a:xfrm>
            <a:prstGeom prst="roundRect">
              <a:avLst>
                <a:gd name="adj" fmla="val 0"/>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D1483A7C-112E-54D2-AE1A-B417200AC7D5}"/>
              </a:ext>
            </a:extLst>
          </p:cNvPr>
          <p:cNvGrpSpPr/>
          <p:nvPr/>
        </p:nvGrpSpPr>
        <p:grpSpPr>
          <a:xfrm flipH="1">
            <a:off x="7955293" y="5143498"/>
            <a:ext cx="3834720" cy="173731"/>
            <a:chOff x="7136154" y="5143498"/>
            <a:chExt cx="3834720" cy="173731"/>
          </a:xfrm>
        </p:grpSpPr>
        <p:cxnSp>
          <p:nvCxnSpPr>
            <p:cNvPr id="25" name="Straight Connector 24">
              <a:extLst>
                <a:ext uri="{FF2B5EF4-FFF2-40B4-BE49-F238E27FC236}">
                  <a16:creationId xmlns:a16="http://schemas.microsoft.com/office/drawing/2014/main" id="{773A14DE-A3FC-F63B-1D76-A3D278FC9F39}"/>
                </a:ext>
              </a:extLst>
            </p:cNvPr>
            <p:cNvCxnSpPr>
              <a:cxnSpLocks/>
            </p:cNvCxnSpPr>
            <p:nvPr/>
          </p:nvCxnSpPr>
          <p:spPr>
            <a:xfrm flipV="1">
              <a:off x="7317126" y="5143498"/>
              <a:ext cx="3653748" cy="2"/>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4C25063-5C7F-5011-290D-21BCEEC9BC1D}"/>
                </a:ext>
              </a:extLst>
            </p:cNvPr>
            <p:cNvCxnSpPr>
              <a:cxnSpLocks/>
            </p:cNvCxnSpPr>
            <p:nvPr/>
          </p:nvCxnSpPr>
          <p:spPr>
            <a:xfrm flipV="1">
              <a:off x="7136154" y="5143500"/>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F136F47-EC8B-73AF-BEF2-A330C2FBCB15}"/>
                </a:ext>
              </a:extLst>
            </p:cNvPr>
            <p:cNvCxnSpPr>
              <a:cxnSpLocks/>
            </p:cNvCxnSpPr>
            <p:nvPr/>
          </p:nvCxnSpPr>
          <p:spPr>
            <a:xfrm flipV="1">
              <a:off x="8048638" y="5143500"/>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BD9B3C1-62AC-2222-B169-0D96A90F155D}"/>
                </a:ext>
              </a:extLst>
            </p:cNvPr>
            <p:cNvCxnSpPr>
              <a:cxnSpLocks/>
            </p:cNvCxnSpPr>
            <p:nvPr/>
          </p:nvCxnSpPr>
          <p:spPr>
            <a:xfrm flipV="1">
              <a:off x="8963028" y="5143499"/>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73DE2DC-ED6E-99CC-8139-F8BE2FD9BFDB}"/>
                </a:ext>
              </a:extLst>
            </p:cNvPr>
            <p:cNvCxnSpPr>
              <a:cxnSpLocks/>
            </p:cNvCxnSpPr>
            <p:nvPr/>
          </p:nvCxnSpPr>
          <p:spPr>
            <a:xfrm flipV="1">
              <a:off x="9877418" y="5143499"/>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CEED13A-BC82-58C9-F7C8-BFB5BFF425E2}"/>
                </a:ext>
              </a:extLst>
            </p:cNvPr>
            <p:cNvCxnSpPr>
              <a:cxnSpLocks/>
            </p:cNvCxnSpPr>
            <p:nvPr/>
          </p:nvCxnSpPr>
          <p:spPr>
            <a:xfrm flipV="1">
              <a:off x="10789902" y="5143498"/>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14B05DCE-B824-563D-3C10-C2CC494F623A}"/>
              </a:ext>
            </a:extLst>
          </p:cNvPr>
          <p:cNvSpPr txBox="1"/>
          <p:nvPr/>
        </p:nvSpPr>
        <p:spPr>
          <a:xfrm>
            <a:off x="13898827" y="4645587"/>
            <a:ext cx="3408305" cy="584775"/>
          </a:xfrm>
          <a:prstGeom prst="rect">
            <a:avLst/>
          </a:prstGeom>
          <a:noFill/>
        </p:spPr>
        <p:txBody>
          <a:bodyPr wrap="none" rtlCol="0">
            <a:spAutoFit/>
          </a:bodyPr>
          <a:lstStyle/>
          <a:p>
            <a:r>
              <a:rPr lang="en-US" sz="3200" dirty="0">
                <a:solidFill>
                  <a:schemeClr val="bg1"/>
                </a:solidFill>
                <a:latin typeface="Roboto" panose="02000000000000000000" pitchFamily="2" charset="0"/>
                <a:ea typeface="Roboto" panose="02000000000000000000" pitchFamily="2" charset="0"/>
              </a:rPr>
              <a:t>Motors/actuators</a:t>
            </a:r>
          </a:p>
        </p:txBody>
      </p:sp>
      <p:sp>
        <p:nvSpPr>
          <p:cNvPr id="43" name="TextBox 42">
            <a:extLst>
              <a:ext uri="{FF2B5EF4-FFF2-40B4-BE49-F238E27FC236}">
                <a16:creationId xmlns:a16="http://schemas.microsoft.com/office/drawing/2014/main" id="{182F60FB-F38C-1D21-3C8D-EA6568A80F55}"/>
              </a:ext>
            </a:extLst>
          </p:cNvPr>
          <p:cNvSpPr txBox="1"/>
          <p:nvPr/>
        </p:nvSpPr>
        <p:spPr>
          <a:xfrm>
            <a:off x="6722675" y="2085108"/>
            <a:ext cx="6118983" cy="584775"/>
          </a:xfrm>
          <a:prstGeom prst="rect">
            <a:avLst/>
          </a:prstGeom>
          <a:noFill/>
        </p:spPr>
        <p:txBody>
          <a:bodyPr wrap="none" rtlCol="0">
            <a:spAutoFit/>
          </a:bodyPr>
          <a:lstStyle/>
          <a:p>
            <a:r>
              <a:rPr lang="en-US" sz="3200" dirty="0">
                <a:solidFill>
                  <a:schemeClr val="bg1"/>
                </a:solidFill>
                <a:latin typeface="Roboto" panose="02000000000000000000" pitchFamily="2" charset="0"/>
                <a:ea typeface="Roboto" panose="02000000000000000000" pitchFamily="2" charset="0"/>
              </a:rPr>
              <a:t>Robot chassis, wheels, floor, etc.</a:t>
            </a:r>
          </a:p>
        </p:txBody>
      </p:sp>
      <p:cxnSp>
        <p:nvCxnSpPr>
          <p:cNvPr id="45" name="Straight Arrow Connector 44">
            <a:extLst>
              <a:ext uri="{FF2B5EF4-FFF2-40B4-BE49-F238E27FC236}">
                <a16:creationId xmlns:a16="http://schemas.microsoft.com/office/drawing/2014/main" id="{BDF0B11F-ED64-90AF-9A81-20975BFDF843}"/>
              </a:ext>
            </a:extLst>
          </p:cNvPr>
          <p:cNvCxnSpPr>
            <a:cxnSpLocks/>
          </p:cNvCxnSpPr>
          <p:nvPr/>
        </p:nvCxnSpPr>
        <p:spPr>
          <a:xfrm flipV="1">
            <a:off x="11064219" y="6515085"/>
            <a:ext cx="2468852" cy="1371585"/>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5E53A84-8F46-E5C2-8FF5-DB8107657B82}"/>
              </a:ext>
            </a:extLst>
          </p:cNvPr>
          <p:cNvCxnSpPr>
            <a:cxnSpLocks/>
          </p:cNvCxnSpPr>
          <p:nvPr/>
        </p:nvCxnSpPr>
        <p:spPr>
          <a:xfrm flipH="1" flipV="1">
            <a:off x="10635607" y="4052711"/>
            <a:ext cx="3080342" cy="1177651"/>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6A9C337E-4BF8-ABDE-C61A-923151A6E7CB}"/>
              </a:ext>
            </a:extLst>
          </p:cNvPr>
          <p:cNvCxnSpPr>
            <a:cxnSpLocks/>
          </p:cNvCxnSpPr>
          <p:nvPr/>
        </p:nvCxnSpPr>
        <p:spPr>
          <a:xfrm flipH="1">
            <a:off x="6629428" y="3538247"/>
            <a:ext cx="1895453" cy="0"/>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810277B-A0D0-C4E4-0C3D-CFA29ACFA904}"/>
              </a:ext>
            </a:extLst>
          </p:cNvPr>
          <p:cNvCxnSpPr>
            <a:cxnSpLocks/>
          </p:cNvCxnSpPr>
          <p:nvPr/>
        </p:nvCxnSpPr>
        <p:spPr>
          <a:xfrm>
            <a:off x="6629428" y="5783572"/>
            <a:ext cx="2219301" cy="1767110"/>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DB267017-D318-8AB1-7170-B94CB4C757A4}"/>
              </a:ext>
            </a:extLst>
          </p:cNvPr>
          <p:cNvSpPr txBox="1"/>
          <p:nvPr/>
        </p:nvSpPr>
        <p:spPr>
          <a:xfrm rot="19851830">
            <a:off x="11659132" y="7258295"/>
            <a:ext cx="1361270" cy="584775"/>
          </a:xfrm>
          <a:prstGeom prst="rect">
            <a:avLst/>
          </a:prstGeom>
          <a:noFill/>
        </p:spPr>
        <p:txBody>
          <a:bodyPr wrap="none" rtlCol="0">
            <a:spAutoFit/>
          </a:bodyPr>
          <a:lstStyle/>
          <a:p>
            <a:r>
              <a:rPr lang="en-US" sz="3200" dirty="0">
                <a:solidFill>
                  <a:schemeClr val="bg1"/>
                </a:solidFill>
                <a:latin typeface="Roboto" panose="02000000000000000000" pitchFamily="2" charset="0"/>
                <a:ea typeface="Roboto" panose="02000000000000000000" pitchFamily="2" charset="0"/>
              </a:rPr>
              <a:t>Action</a:t>
            </a:r>
          </a:p>
        </p:txBody>
      </p:sp>
      <p:sp>
        <p:nvSpPr>
          <p:cNvPr id="64" name="TextBox 63">
            <a:extLst>
              <a:ext uri="{FF2B5EF4-FFF2-40B4-BE49-F238E27FC236}">
                <a16:creationId xmlns:a16="http://schemas.microsoft.com/office/drawing/2014/main" id="{6410D0B1-93BD-863B-E873-5F72EF71A7C3}"/>
              </a:ext>
            </a:extLst>
          </p:cNvPr>
          <p:cNvSpPr txBox="1"/>
          <p:nvPr/>
        </p:nvSpPr>
        <p:spPr>
          <a:xfrm>
            <a:off x="14315621" y="7087345"/>
            <a:ext cx="3057247" cy="707886"/>
          </a:xfrm>
          <a:prstGeom prst="rect">
            <a:avLst/>
          </a:prstGeom>
          <a:noFill/>
        </p:spPr>
        <p:txBody>
          <a:bodyPr wrap="none" rtlCol="0">
            <a:spAutoFit/>
          </a:bodyPr>
          <a:lstStyle/>
          <a:p>
            <a:r>
              <a:rPr lang="en-US" sz="4000" dirty="0">
                <a:solidFill>
                  <a:schemeClr val="bg2"/>
                </a:solidFill>
                <a:latin typeface="Roboto" panose="02000000000000000000" pitchFamily="2" charset="0"/>
                <a:ea typeface="Roboto" panose="02000000000000000000" pitchFamily="2" charset="0"/>
              </a:rPr>
              <a:t>Environment</a:t>
            </a:r>
          </a:p>
        </p:txBody>
      </p:sp>
      <p:cxnSp>
        <p:nvCxnSpPr>
          <p:cNvPr id="22" name="Straight Arrow Connector 21">
            <a:extLst>
              <a:ext uri="{FF2B5EF4-FFF2-40B4-BE49-F238E27FC236}">
                <a16:creationId xmlns:a16="http://schemas.microsoft.com/office/drawing/2014/main" id="{02257A2B-6B02-3C13-7BCA-40C4FBEB77CB}"/>
              </a:ext>
            </a:extLst>
          </p:cNvPr>
          <p:cNvCxnSpPr>
            <a:cxnSpLocks/>
          </p:cNvCxnSpPr>
          <p:nvPr/>
        </p:nvCxnSpPr>
        <p:spPr>
          <a:xfrm>
            <a:off x="6625627" y="7550682"/>
            <a:ext cx="1990693" cy="466345"/>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EBC6E84-B9D4-0410-C65E-FD63863FB247}"/>
              </a:ext>
            </a:extLst>
          </p:cNvPr>
          <p:cNvSpPr/>
          <p:nvPr/>
        </p:nvSpPr>
        <p:spPr>
          <a:xfrm>
            <a:off x="12658866" y="7982897"/>
            <a:ext cx="4714002" cy="1735026"/>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u="sng" dirty="0">
                <a:solidFill>
                  <a:schemeClr val="bg1"/>
                </a:solidFill>
                <a:latin typeface="Roboto" panose="02000000000000000000" pitchFamily="2" charset="0"/>
                <a:ea typeface="Roboto" panose="02000000000000000000" pitchFamily="2" charset="0"/>
              </a:rPr>
              <a:t>Action</a:t>
            </a:r>
          </a:p>
          <a:p>
            <a:pPr algn="ctr"/>
            <a:r>
              <a:rPr lang="en-US" sz="3200" dirty="0">
                <a:solidFill>
                  <a:schemeClr val="bg1"/>
                </a:solidFill>
                <a:latin typeface="Roboto" panose="02000000000000000000" pitchFamily="2" charset="0"/>
                <a:ea typeface="Roboto" panose="02000000000000000000" pitchFamily="2" charset="0"/>
              </a:rPr>
              <a:t>Left motor: [-1.0, 1.0]</a:t>
            </a:r>
          </a:p>
          <a:p>
            <a:pPr algn="ctr"/>
            <a:r>
              <a:rPr lang="en-US" sz="3200" dirty="0">
                <a:solidFill>
                  <a:schemeClr val="bg1"/>
                </a:solidFill>
                <a:latin typeface="Roboto" panose="02000000000000000000" pitchFamily="2" charset="0"/>
                <a:ea typeface="Roboto" panose="02000000000000000000" pitchFamily="2" charset="0"/>
              </a:rPr>
              <a:t>Right motor: [-1.0, 1.0]</a:t>
            </a:r>
          </a:p>
        </p:txBody>
      </p:sp>
      <p:sp>
        <p:nvSpPr>
          <p:cNvPr id="21" name="TextBox 20">
            <a:extLst>
              <a:ext uri="{FF2B5EF4-FFF2-40B4-BE49-F238E27FC236}">
                <a16:creationId xmlns:a16="http://schemas.microsoft.com/office/drawing/2014/main" id="{74B01E51-973B-AF9D-0C5D-E4A158CDDA1B}"/>
              </a:ext>
            </a:extLst>
          </p:cNvPr>
          <p:cNvSpPr txBox="1"/>
          <p:nvPr/>
        </p:nvSpPr>
        <p:spPr>
          <a:xfrm>
            <a:off x="10561881" y="3294208"/>
            <a:ext cx="4902304" cy="584775"/>
          </a:xfrm>
          <a:prstGeom prst="rect">
            <a:avLst/>
          </a:prstGeom>
          <a:noFill/>
        </p:spPr>
        <p:txBody>
          <a:bodyPr wrap="none" rtlCol="0">
            <a:spAutoFit/>
          </a:bodyPr>
          <a:lstStyle/>
          <a:p>
            <a:r>
              <a:rPr lang="en-US" sz="3200" dirty="0">
                <a:solidFill>
                  <a:schemeClr val="bg1"/>
                </a:solidFill>
                <a:latin typeface="Roboto" panose="02000000000000000000" pitchFamily="2" charset="0"/>
                <a:ea typeface="Roboto" panose="02000000000000000000" pitchFamily="2" charset="0"/>
              </a:rPr>
              <a:t>Bala-C Plus (no encoders)</a:t>
            </a:r>
          </a:p>
        </p:txBody>
      </p:sp>
    </p:spTree>
    <p:extLst>
      <p:ext uri="{BB962C8B-B14F-4D97-AF65-F5344CB8AC3E}">
        <p14:creationId xmlns:p14="http://schemas.microsoft.com/office/powerpoint/2010/main" val="3251771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16E8E-CF38-31D4-FF0C-F9338794570F}"/>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32242C11-5375-4C83-F87D-1C09C62D1E6D}"/>
              </a:ext>
            </a:extLst>
          </p:cNvPr>
          <p:cNvCxnSpPr>
            <a:cxnSpLocks/>
          </p:cNvCxnSpPr>
          <p:nvPr/>
        </p:nvCxnSpPr>
        <p:spPr>
          <a:xfrm>
            <a:off x="11429975" y="4320550"/>
            <a:ext cx="1188708" cy="0"/>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75D5C3D-5E10-5071-2047-4EAC6494753A}"/>
              </a:ext>
            </a:extLst>
          </p:cNvPr>
          <p:cNvCxnSpPr>
            <a:cxnSpLocks/>
          </p:cNvCxnSpPr>
          <p:nvPr/>
        </p:nvCxnSpPr>
        <p:spPr>
          <a:xfrm>
            <a:off x="11429975" y="7954420"/>
            <a:ext cx="1188708" cy="0"/>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3BF2AD2-6108-30BE-BC51-1C66AF975C85}"/>
              </a:ext>
            </a:extLst>
          </p:cNvPr>
          <p:cNvSpPr>
            <a:spLocks noGrp="1"/>
          </p:cNvSpPr>
          <p:nvPr>
            <p:ph type="title"/>
          </p:nvPr>
        </p:nvSpPr>
        <p:spPr>
          <a:xfrm>
            <a:off x="1257300" y="0"/>
            <a:ext cx="15773400" cy="1988345"/>
          </a:xfrm>
        </p:spPr>
        <p:txBody>
          <a:bodyPr/>
          <a:lstStyle/>
          <a:p>
            <a:pPr algn="ctr"/>
            <a:r>
              <a:rPr lang="en-US" dirty="0"/>
              <a:t>Actor/Critic Agent</a:t>
            </a:r>
          </a:p>
        </p:txBody>
      </p:sp>
      <p:grpSp>
        <p:nvGrpSpPr>
          <p:cNvPr id="33" name="Group 32">
            <a:extLst>
              <a:ext uri="{FF2B5EF4-FFF2-40B4-BE49-F238E27FC236}">
                <a16:creationId xmlns:a16="http://schemas.microsoft.com/office/drawing/2014/main" id="{CCF31D37-5793-2888-0110-93455C858A17}"/>
              </a:ext>
            </a:extLst>
          </p:cNvPr>
          <p:cNvGrpSpPr/>
          <p:nvPr/>
        </p:nvGrpSpPr>
        <p:grpSpPr>
          <a:xfrm>
            <a:off x="6035073" y="2857531"/>
            <a:ext cx="5394901" cy="2926048"/>
            <a:chOff x="6035073" y="2857531"/>
            <a:chExt cx="5394901" cy="2926048"/>
          </a:xfrm>
        </p:grpSpPr>
        <p:sp>
          <p:nvSpPr>
            <p:cNvPr id="3" name="Trapezoid 2">
              <a:extLst>
                <a:ext uri="{FF2B5EF4-FFF2-40B4-BE49-F238E27FC236}">
                  <a16:creationId xmlns:a16="http://schemas.microsoft.com/office/drawing/2014/main" id="{C0CBB9FE-DB05-E77B-29A2-489557BDFFA4}"/>
                </a:ext>
              </a:extLst>
            </p:cNvPr>
            <p:cNvSpPr/>
            <p:nvPr/>
          </p:nvSpPr>
          <p:spPr>
            <a:xfrm rot="5400000">
              <a:off x="7269500" y="1623104"/>
              <a:ext cx="2926048" cy="5394901"/>
            </a:xfrm>
            <a:prstGeom prst="trapezoid">
              <a:avLst>
                <a:gd name="adj" fmla="val 1689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FEC26C3-A89A-63D8-C928-BF2AC34A2074}"/>
                </a:ext>
              </a:extLst>
            </p:cNvPr>
            <p:cNvSpPr txBox="1"/>
            <p:nvPr/>
          </p:nvSpPr>
          <p:spPr>
            <a:xfrm>
              <a:off x="6614798" y="3535723"/>
              <a:ext cx="4235455" cy="1569660"/>
            </a:xfrm>
            <a:prstGeom prst="rect">
              <a:avLst/>
            </a:prstGeom>
            <a:noFill/>
          </p:spPr>
          <p:txBody>
            <a:bodyPr wrap="none" rtlCol="0">
              <a:spAutoFit/>
            </a:bodyPr>
            <a:lstStyle/>
            <a:p>
              <a:pPr algn="ctr"/>
              <a:r>
                <a:rPr lang="en-US" sz="4800" dirty="0">
                  <a:solidFill>
                    <a:schemeClr val="bg1"/>
                  </a:solidFill>
                  <a:latin typeface="Roboto" panose="02000000000000000000" pitchFamily="2" charset="0"/>
                  <a:ea typeface="Roboto" panose="02000000000000000000" pitchFamily="2" charset="0"/>
                </a:rPr>
                <a:t>Actor (policy)</a:t>
              </a:r>
            </a:p>
            <a:p>
              <a:pPr algn="ctr"/>
              <a:r>
                <a:rPr lang="en-US" sz="4800" dirty="0">
                  <a:solidFill>
                    <a:schemeClr val="bg1"/>
                  </a:solidFill>
                  <a:latin typeface="Roboto" panose="02000000000000000000" pitchFamily="2" charset="0"/>
                  <a:ea typeface="Roboto" panose="02000000000000000000" pitchFamily="2" charset="0"/>
                </a:rPr>
                <a:t>neural network</a:t>
              </a:r>
            </a:p>
          </p:txBody>
        </p:sp>
      </p:grpSp>
      <p:sp>
        <p:nvSpPr>
          <p:cNvPr id="7" name="TextBox 6">
            <a:extLst>
              <a:ext uri="{FF2B5EF4-FFF2-40B4-BE49-F238E27FC236}">
                <a16:creationId xmlns:a16="http://schemas.microsoft.com/office/drawing/2014/main" id="{C5099078-02EE-83AB-E5C2-9E1A93436E44}"/>
              </a:ext>
            </a:extLst>
          </p:cNvPr>
          <p:cNvSpPr txBox="1"/>
          <p:nvPr/>
        </p:nvSpPr>
        <p:spPr>
          <a:xfrm>
            <a:off x="12801560" y="3535720"/>
            <a:ext cx="4977645" cy="2308324"/>
          </a:xfrm>
          <a:prstGeom prst="rect">
            <a:avLst/>
          </a:prstGeom>
          <a:noFill/>
        </p:spPr>
        <p:txBody>
          <a:bodyPr wrap="none" rtlCol="0">
            <a:spAutoFit/>
          </a:bodyPr>
          <a:lstStyle/>
          <a:p>
            <a:pPr algn="ctr"/>
            <a:r>
              <a:rPr lang="en-US" sz="4800" dirty="0">
                <a:solidFill>
                  <a:schemeClr val="bg1"/>
                </a:solidFill>
                <a:latin typeface="Roboto" panose="02000000000000000000" pitchFamily="2" charset="0"/>
                <a:ea typeface="Roboto" panose="02000000000000000000" pitchFamily="2" charset="0"/>
              </a:rPr>
              <a:t>Action</a:t>
            </a:r>
          </a:p>
          <a:p>
            <a:pPr algn="ctr"/>
            <a:r>
              <a:rPr lang="en-US" sz="4800" dirty="0">
                <a:solidFill>
                  <a:schemeClr val="bg1"/>
                </a:solidFill>
                <a:latin typeface="Roboto Mono" panose="00000009000000000000" pitchFamily="49" charset="0"/>
                <a:ea typeface="Roboto Mono" panose="00000009000000000000" pitchFamily="49" charset="0"/>
              </a:rPr>
              <a:t>[</a:t>
            </a:r>
            <a:r>
              <a:rPr lang="en-US" sz="4800" dirty="0" err="1">
                <a:solidFill>
                  <a:schemeClr val="bg1"/>
                </a:solidFill>
                <a:latin typeface="Roboto Mono" panose="00000009000000000000" pitchFamily="49" charset="0"/>
                <a:ea typeface="Roboto Mono" panose="00000009000000000000" pitchFamily="49" charset="0"/>
              </a:rPr>
              <a:t>left_motor</a:t>
            </a:r>
            <a:r>
              <a:rPr lang="en-US" sz="4800" dirty="0">
                <a:solidFill>
                  <a:schemeClr val="bg1"/>
                </a:solidFill>
                <a:latin typeface="Roboto Mono" panose="00000009000000000000" pitchFamily="49" charset="0"/>
                <a:ea typeface="Roboto Mono" panose="00000009000000000000" pitchFamily="49" charset="0"/>
              </a:rPr>
              <a:t>, </a:t>
            </a:r>
          </a:p>
          <a:p>
            <a:pPr algn="ctr"/>
            <a:r>
              <a:rPr lang="en-US" sz="4800" dirty="0" err="1">
                <a:solidFill>
                  <a:schemeClr val="bg1"/>
                </a:solidFill>
                <a:latin typeface="Roboto Mono" panose="00000009000000000000" pitchFamily="49" charset="0"/>
                <a:ea typeface="Roboto Mono" panose="00000009000000000000" pitchFamily="49" charset="0"/>
              </a:rPr>
              <a:t>right_motor</a:t>
            </a:r>
            <a:r>
              <a:rPr lang="en-US" sz="4800" dirty="0">
                <a:solidFill>
                  <a:schemeClr val="bg1"/>
                </a:solidFill>
                <a:latin typeface="Roboto Mono" panose="00000009000000000000" pitchFamily="49" charset="0"/>
                <a:ea typeface="Roboto Mono" panose="00000009000000000000" pitchFamily="49" charset="0"/>
              </a:rPr>
              <a:t>]</a:t>
            </a:r>
          </a:p>
        </p:txBody>
      </p:sp>
      <p:grpSp>
        <p:nvGrpSpPr>
          <p:cNvPr id="34" name="Group 33">
            <a:extLst>
              <a:ext uri="{FF2B5EF4-FFF2-40B4-BE49-F238E27FC236}">
                <a16:creationId xmlns:a16="http://schemas.microsoft.com/office/drawing/2014/main" id="{439C9E2F-3880-3E05-916B-B5306D2F6C52}"/>
              </a:ext>
            </a:extLst>
          </p:cNvPr>
          <p:cNvGrpSpPr/>
          <p:nvPr/>
        </p:nvGrpSpPr>
        <p:grpSpPr>
          <a:xfrm>
            <a:off x="6035073" y="6491401"/>
            <a:ext cx="5394901" cy="2926048"/>
            <a:chOff x="6035073" y="6491401"/>
            <a:chExt cx="5394901" cy="2926048"/>
          </a:xfrm>
        </p:grpSpPr>
        <p:sp>
          <p:nvSpPr>
            <p:cNvPr id="8" name="Trapezoid 7">
              <a:extLst>
                <a:ext uri="{FF2B5EF4-FFF2-40B4-BE49-F238E27FC236}">
                  <a16:creationId xmlns:a16="http://schemas.microsoft.com/office/drawing/2014/main" id="{760396B2-F9DB-8107-6374-421578A77048}"/>
                </a:ext>
              </a:extLst>
            </p:cNvPr>
            <p:cNvSpPr/>
            <p:nvPr/>
          </p:nvSpPr>
          <p:spPr>
            <a:xfrm rot="5400000">
              <a:off x="7269500" y="5256974"/>
              <a:ext cx="2926048" cy="5394901"/>
            </a:xfrm>
            <a:prstGeom prst="trapezoid">
              <a:avLst>
                <a:gd name="adj" fmla="val 16898"/>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8662E21C-FCEC-80FE-A742-A28F55021194}"/>
                </a:ext>
              </a:extLst>
            </p:cNvPr>
            <p:cNvSpPr txBox="1"/>
            <p:nvPr/>
          </p:nvSpPr>
          <p:spPr>
            <a:xfrm>
              <a:off x="6614798" y="7169593"/>
              <a:ext cx="4235455" cy="1569660"/>
            </a:xfrm>
            <a:prstGeom prst="rect">
              <a:avLst/>
            </a:prstGeom>
            <a:noFill/>
          </p:spPr>
          <p:txBody>
            <a:bodyPr wrap="none" rtlCol="0">
              <a:spAutoFit/>
            </a:bodyPr>
            <a:lstStyle/>
            <a:p>
              <a:pPr algn="ctr"/>
              <a:r>
                <a:rPr lang="en-US" sz="4800" dirty="0">
                  <a:solidFill>
                    <a:schemeClr val="bg1"/>
                  </a:solidFill>
                  <a:latin typeface="Roboto" panose="02000000000000000000" pitchFamily="2" charset="0"/>
                  <a:ea typeface="Roboto" panose="02000000000000000000" pitchFamily="2" charset="0"/>
                </a:rPr>
                <a:t>Critic</a:t>
              </a:r>
            </a:p>
            <a:p>
              <a:pPr algn="ctr"/>
              <a:r>
                <a:rPr lang="en-US" sz="4800" dirty="0">
                  <a:solidFill>
                    <a:schemeClr val="bg1"/>
                  </a:solidFill>
                  <a:latin typeface="Roboto" panose="02000000000000000000" pitchFamily="2" charset="0"/>
                  <a:ea typeface="Roboto" panose="02000000000000000000" pitchFamily="2" charset="0"/>
                </a:rPr>
                <a:t>neural network</a:t>
              </a:r>
            </a:p>
          </p:txBody>
        </p:sp>
      </p:grpSp>
      <p:sp>
        <p:nvSpPr>
          <p:cNvPr id="10" name="TextBox 9">
            <a:extLst>
              <a:ext uri="{FF2B5EF4-FFF2-40B4-BE49-F238E27FC236}">
                <a16:creationId xmlns:a16="http://schemas.microsoft.com/office/drawing/2014/main" id="{0CDB2402-5F66-D55A-F869-841C92124DB3}"/>
              </a:ext>
            </a:extLst>
          </p:cNvPr>
          <p:cNvSpPr txBox="1"/>
          <p:nvPr/>
        </p:nvSpPr>
        <p:spPr>
          <a:xfrm>
            <a:off x="13003538" y="7169590"/>
            <a:ext cx="4573689" cy="1569660"/>
          </a:xfrm>
          <a:prstGeom prst="rect">
            <a:avLst/>
          </a:prstGeom>
          <a:noFill/>
        </p:spPr>
        <p:txBody>
          <a:bodyPr wrap="none" rtlCol="0">
            <a:spAutoFit/>
          </a:bodyPr>
          <a:lstStyle/>
          <a:p>
            <a:pPr algn="ctr"/>
            <a:r>
              <a:rPr lang="en-US" sz="4800" dirty="0">
                <a:solidFill>
                  <a:schemeClr val="bg1"/>
                </a:solidFill>
                <a:latin typeface="Roboto" panose="02000000000000000000" pitchFamily="2" charset="0"/>
                <a:ea typeface="Roboto" panose="02000000000000000000" pitchFamily="2" charset="0"/>
              </a:rPr>
              <a:t>Predicted return</a:t>
            </a:r>
          </a:p>
          <a:p>
            <a:pPr algn="ctr"/>
            <a:r>
              <a:rPr lang="en-US" sz="4800" dirty="0">
                <a:solidFill>
                  <a:schemeClr val="bg1"/>
                </a:solidFill>
                <a:latin typeface="Roboto Mono" panose="00000009000000000000" pitchFamily="49" charset="0"/>
                <a:ea typeface="Roboto Mono" panose="00000009000000000000" pitchFamily="49" charset="0"/>
              </a:rPr>
              <a:t>v(s)</a:t>
            </a:r>
          </a:p>
        </p:txBody>
      </p:sp>
      <p:sp>
        <p:nvSpPr>
          <p:cNvPr id="11" name="TextBox 10">
            <a:extLst>
              <a:ext uri="{FF2B5EF4-FFF2-40B4-BE49-F238E27FC236}">
                <a16:creationId xmlns:a16="http://schemas.microsoft.com/office/drawing/2014/main" id="{A0B9134B-3F6D-EEB1-77ED-FCD8696DC169}"/>
              </a:ext>
            </a:extLst>
          </p:cNvPr>
          <p:cNvSpPr txBox="1"/>
          <p:nvPr/>
        </p:nvSpPr>
        <p:spPr>
          <a:xfrm>
            <a:off x="274317" y="5721986"/>
            <a:ext cx="3477234" cy="830997"/>
          </a:xfrm>
          <a:prstGeom prst="rect">
            <a:avLst/>
          </a:prstGeom>
          <a:noFill/>
        </p:spPr>
        <p:txBody>
          <a:bodyPr wrap="none" rtlCol="0">
            <a:spAutoFit/>
          </a:bodyPr>
          <a:lstStyle/>
          <a:p>
            <a:pPr algn="ctr"/>
            <a:r>
              <a:rPr lang="en-US" sz="4800" dirty="0">
                <a:solidFill>
                  <a:schemeClr val="bg1"/>
                </a:solidFill>
                <a:latin typeface="Roboto" panose="02000000000000000000" pitchFamily="2" charset="0"/>
                <a:ea typeface="Roboto" panose="02000000000000000000" pitchFamily="2" charset="0"/>
              </a:rPr>
              <a:t>Observation</a:t>
            </a:r>
            <a:endParaRPr lang="en-US" sz="4800" dirty="0">
              <a:solidFill>
                <a:schemeClr val="bg1"/>
              </a:solidFill>
              <a:latin typeface="Roboto Mono" panose="00000009000000000000" pitchFamily="49" charset="0"/>
              <a:ea typeface="Roboto Mono" panose="00000009000000000000" pitchFamily="49" charset="0"/>
            </a:endParaRPr>
          </a:p>
        </p:txBody>
      </p:sp>
      <p:cxnSp>
        <p:nvCxnSpPr>
          <p:cNvPr id="12" name="Straight Arrow Connector 11">
            <a:extLst>
              <a:ext uri="{FF2B5EF4-FFF2-40B4-BE49-F238E27FC236}">
                <a16:creationId xmlns:a16="http://schemas.microsoft.com/office/drawing/2014/main" id="{81D3A874-6965-2862-5B2C-C7FC1C3AB2AD}"/>
              </a:ext>
            </a:extLst>
          </p:cNvPr>
          <p:cNvCxnSpPr>
            <a:cxnSpLocks/>
            <a:endCxn id="3" idx="2"/>
          </p:cNvCxnSpPr>
          <p:nvPr/>
        </p:nvCxnSpPr>
        <p:spPr>
          <a:xfrm>
            <a:off x="4846366" y="4320555"/>
            <a:ext cx="1188708" cy="0"/>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FE5582-072E-B274-864F-732BDA6B2EFE}"/>
              </a:ext>
            </a:extLst>
          </p:cNvPr>
          <p:cNvCxnSpPr>
            <a:cxnSpLocks/>
            <a:endCxn id="8" idx="2"/>
          </p:cNvCxnSpPr>
          <p:nvPr/>
        </p:nvCxnSpPr>
        <p:spPr>
          <a:xfrm>
            <a:off x="4846366" y="7954425"/>
            <a:ext cx="1188708" cy="0"/>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9F2974A-FCEE-1220-B026-E5FE2225F94E}"/>
              </a:ext>
            </a:extLst>
          </p:cNvPr>
          <p:cNvCxnSpPr>
            <a:cxnSpLocks/>
          </p:cNvCxnSpPr>
          <p:nvPr/>
        </p:nvCxnSpPr>
        <p:spPr>
          <a:xfrm>
            <a:off x="4846366" y="4320550"/>
            <a:ext cx="0" cy="1816935"/>
          </a:xfrm>
          <a:prstGeom prst="straightConnector1">
            <a:avLst/>
          </a:prstGeom>
          <a:ln w="57150" cap="rnd">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95D938E-1D2B-68A6-FA2C-3F3A765F993F}"/>
              </a:ext>
            </a:extLst>
          </p:cNvPr>
          <p:cNvCxnSpPr>
            <a:cxnSpLocks/>
          </p:cNvCxnSpPr>
          <p:nvPr/>
        </p:nvCxnSpPr>
        <p:spPr>
          <a:xfrm>
            <a:off x="3779577" y="6137485"/>
            <a:ext cx="1066789" cy="0"/>
          </a:xfrm>
          <a:prstGeom prst="straightConnector1">
            <a:avLst/>
          </a:prstGeom>
          <a:ln w="57150" cap="rnd">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39834E8-DABC-899D-D35F-615708788AFA}"/>
              </a:ext>
            </a:extLst>
          </p:cNvPr>
          <p:cNvCxnSpPr>
            <a:cxnSpLocks/>
          </p:cNvCxnSpPr>
          <p:nvPr/>
        </p:nvCxnSpPr>
        <p:spPr>
          <a:xfrm>
            <a:off x="4846366" y="6137485"/>
            <a:ext cx="0" cy="1816935"/>
          </a:xfrm>
          <a:prstGeom prst="straightConnector1">
            <a:avLst/>
          </a:prstGeom>
          <a:ln w="57150" cap="rnd">
            <a:solidFill>
              <a:schemeClr val="bg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490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15C8A-1951-E88B-59B6-C6C7A820BBB3}"/>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8051AE58-C294-1A8A-817E-6BA6A884769D}"/>
              </a:ext>
            </a:extLst>
          </p:cNvPr>
          <p:cNvCxnSpPr>
            <a:cxnSpLocks/>
          </p:cNvCxnSpPr>
          <p:nvPr/>
        </p:nvCxnSpPr>
        <p:spPr>
          <a:xfrm>
            <a:off x="11429975" y="4320550"/>
            <a:ext cx="1188708" cy="0"/>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EBAFC75-DD68-B87D-7652-EFE9C3EA4410}"/>
              </a:ext>
            </a:extLst>
          </p:cNvPr>
          <p:cNvSpPr>
            <a:spLocks noGrp="1"/>
          </p:cNvSpPr>
          <p:nvPr>
            <p:ph type="title"/>
          </p:nvPr>
        </p:nvSpPr>
        <p:spPr>
          <a:xfrm>
            <a:off x="1257300" y="0"/>
            <a:ext cx="15773400" cy="1988345"/>
          </a:xfrm>
        </p:spPr>
        <p:txBody>
          <a:bodyPr/>
          <a:lstStyle/>
          <a:p>
            <a:pPr algn="ctr"/>
            <a:r>
              <a:rPr lang="en-US" dirty="0"/>
              <a:t>Deploy Actor</a:t>
            </a:r>
          </a:p>
        </p:txBody>
      </p:sp>
      <p:grpSp>
        <p:nvGrpSpPr>
          <p:cNvPr id="33" name="Group 32">
            <a:extLst>
              <a:ext uri="{FF2B5EF4-FFF2-40B4-BE49-F238E27FC236}">
                <a16:creationId xmlns:a16="http://schemas.microsoft.com/office/drawing/2014/main" id="{D552CAD3-87C0-8D3A-BCAA-ACDDF2773732}"/>
              </a:ext>
            </a:extLst>
          </p:cNvPr>
          <p:cNvGrpSpPr/>
          <p:nvPr/>
        </p:nvGrpSpPr>
        <p:grpSpPr>
          <a:xfrm>
            <a:off x="6035073" y="2857531"/>
            <a:ext cx="5394901" cy="2926048"/>
            <a:chOff x="6035073" y="2857531"/>
            <a:chExt cx="5394901" cy="2926048"/>
          </a:xfrm>
        </p:grpSpPr>
        <p:sp>
          <p:nvSpPr>
            <p:cNvPr id="3" name="Trapezoid 2">
              <a:extLst>
                <a:ext uri="{FF2B5EF4-FFF2-40B4-BE49-F238E27FC236}">
                  <a16:creationId xmlns:a16="http://schemas.microsoft.com/office/drawing/2014/main" id="{1C821E4A-801E-3DB1-24B0-53133CCBB46B}"/>
                </a:ext>
              </a:extLst>
            </p:cNvPr>
            <p:cNvSpPr/>
            <p:nvPr/>
          </p:nvSpPr>
          <p:spPr>
            <a:xfrm rot="5400000">
              <a:off x="7269500" y="1623104"/>
              <a:ext cx="2926048" cy="5394901"/>
            </a:xfrm>
            <a:prstGeom prst="trapezoid">
              <a:avLst>
                <a:gd name="adj" fmla="val 1689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6F56787-4B96-301D-676E-EA4ABF813A33}"/>
                </a:ext>
              </a:extLst>
            </p:cNvPr>
            <p:cNvSpPr txBox="1"/>
            <p:nvPr/>
          </p:nvSpPr>
          <p:spPr>
            <a:xfrm>
              <a:off x="6614798" y="3535723"/>
              <a:ext cx="4235455" cy="1569660"/>
            </a:xfrm>
            <a:prstGeom prst="rect">
              <a:avLst/>
            </a:prstGeom>
            <a:noFill/>
          </p:spPr>
          <p:txBody>
            <a:bodyPr wrap="none" rtlCol="0">
              <a:spAutoFit/>
            </a:bodyPr>
            <a:lstStyle/>
            <a:p>
              <a:pPr algn="ctr"/>
              <a:r>
                <a:rPr lang="en-US" sz="4800" dirty="0">
                  <a:solidFill>
                    <a:schemeClr val="bg1"/>
                  </a:solidFill>
                  <a:latin typeface="Roboto" panose="02000000000000000000" pitchFamily="2" charset="0"/>
                  <a:ea typeface="Roboto" panose="02000000000000000000" pitchFamily="2" charset="0"/>
                </a:rPr>
                <a:t>Actor (policy)</a:t>
              </a:r>
            </a:p>
            <a:p>
              <a:pPr algn="ctr"/>
              <a:r>
                <a:rPr lang="en-US" sz="4800" dirty="0">
                  <a:solidFill>
                    <a:schemeClr val="bg1"/>
                  </a:solidFill>
                  <a:latin typeface="Roboto" panose="02000000000000000000" pitchFamily="2" charset="0"/>
                  <a:ea typeface="Roboto" panose="02000000000000000000" pitchFamily="2" charset="0"/>
                </a:rPr>
                <a:t>neural network</a:t>
              </a:r>
            </a:p>
          </p:txBody>
        </p:sp>
      </p:grpSp>
      <p:sp>
        <p:nvSpPr>
          <p:cNvPr id="7" name="TextBox 6">
            <a:extLst>
              <a:ext uri="{FF2B5EF4-FFF2-40B4-BE49-F238E27FC236}">
                <a16:creationId xmlns:a16="http://schemas.microsoft.com/office/drawing/2014/main" id="{BF7367E2-1DFB-C8DB-15CD-8C595D8429E2}"/>
              </a:ext>
            </a:extLst>
          </p:cNvPr>
          <p:cNvSpPr txBox="1"/>
          <p:nvPr/>
        </p:nvSpPr>
        <p:spPr>
          <a:xfrm>
            <a:off x="12801560" y="3535720"/>
            <a:ext cx="4977645" cy="2308324"/>
          </a:xfrm>
          <a:prstGeom prst="rect">
            <a:avLst/>
          </a:prstGeom>
          <a:noFill/>
        </p:spPr>
        <p:txBody>
          <a:bodyPr wrap="none" rtlCol="0">
            <a:spAutoFit/>
          </a:bodyPr>
          <a:lstStyle/>
          <a:p>
            <a:pPr algn="ctr"/>
            <a:r>
              <a:rPr lang="en-US" sz="4800" dirty="0">
                <a:solidFill>
                  <a:schemeClr val="bg1"/>
                </a:solidFill>
                <a:latin typeface="Roboto" panose="02000000000000000000" pitchFamily="2" charset="0"/>
                <a:ea typeface="Roboto" panose="02000000000000000000" pitchFamily="2" charset="0"/>
              </a:rPr>
              <a:t>Action</a:t>
            </a:r>
          </a:p>
          <a:p>
            <a:pPr algn="ctr"/>
            <a:r>
              <a:rPr lang="en-US" sz="4800" dirty="0">
                <a:solidFill>
                  <a:schemeClr val="bg1"/>
                </a:solidFill>
                <a:latin typeface="Roboto Mono" panose="00000009000000000000" pitchFamily="49" charset="0"/>
                <a:ea typeface="Roboto Mono" panose="00000009000000000000" pitchFamily="49" charset="0"/>
              </a:rPr>
              <a:t>[</a:t>
            </a:r>
            <a:r>
              <a:rPr lang="en-US" sz="4800" dirty="0" err="1">
                <a:solidFill>
                  <a:schemeClr val="bg1"/>
                </a:solidFill>
                <a:latin typeface="Roboto Mono" panose="00000009000000000000" pitchFamily="49" charset="0"/>
                <a:ea typeface="Roboto Mono" panose="00000009000000000000" pitchFamily="49" charset="0"/>
              </a:rPr>
              <a:t>left_motor</a:t>
            </a:r>
            <a:r>
              <a:rPr lang="en-US" sz="4800" dirty="0">
                <a:solidFill>
                  <a:schemeClr val="bg1"/>
                </a:solidFill>
                <a:latin typeface="Roboto Mono" panose="00000009000000000000" pitchFamily="49" charset="0"/>
                <a:ea typeface="Roboto Mono" panose="00000009000000000000" pitchFamily="49" charset="0"/>
              </a:rPr>
              <a:t>, </a:t>
            </a:r>
          </a:p>
          <a:p>
            <a:pPr algn="ctr"/>
            <a:r>
              <a:rPr lang="en-US" sz="4800" dirty="0" err="1">
                <a:solidFill>
                  <a:schemeClr val="bg1"/>
                </a:solidFill>
                <a:latin typeface="Roboto Mono" panose="00000009000000000000" pitchFamily="49" charset="0"/>
                <a:ea typeface="Roboto Mono" panose="00000009000000000000" pitchFamily="49" charset="0"/>
              </a:rPr>
              <a:t>right_motor</a:t>
            </a:r>
            <a:r>
              <a:rPr lang="en-US" sz="4800" dirty="0">
                <a:solidFill>
                  <a:schemeClr val="bg1"/>
                </a:solidFill>
                <a:latin typeface="Roboto Mono" panose="00000009000000000000" pitchFamily="49" charset="0"/>
                <a:ea typeface="Roboto Mono" panose="00000009000000000000" pitchFamily="49" charset="0"/>
              </a:rPr>
              <a:t>]</a:t>
            </a:r>
          </a:p>
        </p:txBody>
      </p:sp>
      <p:sp>
        <p:nvSpPr>
          <p:cNvPr id="11" name="TextBox 10">
            <a:extLst>
              <a:ext uri="{FF2B5EF4-FFF2-40B4-BE49-F238E27FC236}">
                <a16:creationId xmlns:a16="http://schemas.microsoft.com/office/drawing/2014/main" id="{311138DA-25B1-FA8D-485B-7C82BF1BF23E}"/>
              </a:ext>
            </a:extLst>
          </p:cNvPr>
          <p:cNvSpPr txBox="1"/>
          <p:nvPr/>
        </p:nvSpPr>
        <p:spPr>
          <a:xfrm>
            <a:off x="274317" y="5721986"/>
            <a:ext cx="3477234" cy="830997"/>
          </a:xfrm>
          <a:prstGeom prst="rect">
            <a:avLst/>
          </a:prstGeom>
          <a:noFill/>
        </p:spPr>
        <p:txBody>
          <a:bodyPr wrap="none" rtlCol="0">
            <a:spAutoFit/>
          </a:bodyPr>
          <a:lstStyle/>
          <a:p>
            <a:pPr algn="ctr"/>
            <a:r>
              <a:rPr lang="en-US" sz="4800" dirty="0">
                <a:solidFill>
                  <a:schemeClr val="bg1"/>
                </a:solidFill>
                <a:latin typeface="Roboto" panose="02000000000000000000" pitchFamily="2" charset="0"/>
                <a:ea typeface="Roboto" panose="02000000000000000000" pitchFamily="2" charset="0"/>
              </a:rPr>
              <a:t>Observation</a:t>
            </a:r>
            <a:endParaRPr lang="en-US" sz="4800" dirty="0">
              <a:solidFill>
                <a:schemeClr val="bg1"/>
              </a:solidFill>
              <a:latin typeface="Roboto Mono" panose="00000009000000000000" pitchFamily="49" charset="0"/>
              <a:ea typeface="Roboto Mono" panose="00000009000000000000" pitchFamily="49" charset="0"/>
            </a:endParaRPr>
          </a:p>
        </p:txBody>
      </p:sp>
      <p:cxnSp>
        <p:nvCxnSpPr>
          <p:cNvPr id="12" name="Straight Arrow Connector 11">
            <a:extLst>
              <a:ext uri="{FF2B5EF4-FFF2-40B4-BE49-F238E27FC236}">
                <a16:creationId xmlns:a16="http://schemas.microsoft.com/office/drawing/2014/main" id="{596888DD-5580-B78F-8641-5C85EA53201D}"/>
              </a:ext>
            </a:extLst>
          </p:cNvPr>
          <p:cNvCxnSpPr>
            <a:cxnSpLocks/>
            <a:endCxn id="3" idx="2"/>
          </p:cNvCxnSpPr>
          <p:nvPr/>
        </p:nvCxnSpPr>
        <p:spPr>
          <a:xfrm>
            <a:off x="4846366" y="4320555"/>
            <a:ext cx="1188708" cy="0"/>
          </a:xfrm>
          <a:prstGeom prst="straightConnector1">
            <a:avLst/>
          </a:prstGeom>
          <a:ln w="57150" cap="rnd">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7537D34-3D15-BE8A-98E0-F78C2863B4A8}"/>
              </a:ext>
            </a:extLst>
          </p:cNvPr>
          <p:cNvCxnSpPr>
            <a:cxnSpLocks/>
          </p:cNvCxnSpPr>
          <p:nvPr/>
        </p:nvCxnSpPr>
        <p:spPr>
          <a:xfrm>
            <a:off x="4846366" y="4320550"/>
            <a:ext cx="0" cy="1816935"/>
          </a:xfrm>
          <a:prstGeom prst="straightConnector1">
            <a:avLst/>
          </a:prstGeom>
          <a:ln w="57150" cap="rnd">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1AE9781-A3A5-0201-329B-45845FA5EE25}"/>
              </a:ext>
            </a:extLst>
          </p:cNvPr>
          <p:cNvCxnSpPr>
            <a:cxnSpLocks/>
          </p:cNvCxnSpPr>
          <p:nvPr/>
        </p:nvCxnSpPr>
        <p:spPr>
          <a:xfrm>
            <a:off x="3779577" y="6137485"/>
            <a:ext cx="1066789" cy="0"/>
          </a:xfrm>
          <a:prstGeom prst="straightConnector1">
            <a:avLst/>
          </a:prstGeom>
          <a:ln w="57150" cap="rnd">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8072576-5C90-CD5B-E4EC-5B5BE9E231C7}"/>
              </a:ext>
            </a:extLst>
          </p:cNvPr>
          <p:cNvSpPr/>
          <p:nvPr/>
        </p:nvSpPr>
        <p:spPr>
          <a:xfrm>
            <a:off x="4480612" y="2217452"/>
            <a:ext cx="7772316" cy="4335531"/>
          </a:xfrm>
          <a:prstGeom prst="ellipse">
            <a:avLst/>
          </a:prstGeom>
          <a:noFill/>
          <a:ln w="57150">
            <a:solidFill>
              <a:schemeClr val="bg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0A46EB00-7232-5300-F07E-257527A64E37}"/>
              </a:ext>
            </a:extLst>
          </p:cNvPr>
          <p:cNvCxnSpPr>
            <a:cxnSpLocks/>
          </p:cNvCxnSpPr>
          <p:nvPr/>
        </p:nvCxnSpPr>
        <p:spPr>
          <a:xfrm>
            <a:off x="8397256" y="6552983"/>
            <a:ext cx="0" cy="876492"/>
          </a:xfrm>
          <a:prstGeom prst="straightConnector1">
            <a:avLst/>
          </a:prstGeom>
          <a:ln w="57150" cap="rnd">
            <a:solidFill>
              <a:schemeClr val="bg2"/>
            </a:solidFill>
            <a:tailEnd type="arrow"/>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D4B97568-BE3D-E852-B4B2-57517B312CD6}"/>
              </a:ext>
            </a:extLst>
          </p:cNvPr>
          <p:cNvGrpSpPr/>
          <p:nvPr/>
        </p:nvGrpSpPr>
        <p:grpSpPr>
          <a:xfrm>
            <a:off x="7726697" y="7703792"/>
            <a:ext cx="1280146" cy="2130594"/>
            <a:chOff x="8321049" y="7537963"/>
            <a:chExt cx="1280146" cy="2130594"/>
          </a:xfrm>
        </p:grpSpPr>
        <p:grpSp>
          <p:nvGrpSpPr>
            <p:cNvPr id="21" name="Group 20">
              <a:extLst>
                <a:ext uri="{FF2B5EF4-FFF2-40B4-BE49-F238E27FC236}">
                  <a16:creationId xmlns:a16="http://schemas.microsoft.com/office/drawing/2014/main" id="{C06CB0DD-8820-960D-3565-9B7B2CE4039E}"/>
                </a:ext>
              </a:extLst>
            </p:cNvPr>
            <p:cNvGrpSpPr/>
            <p:nvPr/>
          </p:nvGrpSpPr>
          <p:grpSpPr>
            <a:xfrm rot="900000">
              <a:off x="8844205" y="7537963"/>
              <a:ext cx="661024" cy="1316343"/>
              <a:chOff x="9397366" y="3040403"/>
              <a:chExt cx="661024" cy="1316343"/>
            </a:xfrm>
          </p:grpSpPr>
          <p:sp>
            <p:nvSpPr>
              <p:cNvPr id="22" name="Rectangle: Rounded Corners 21">
                <a:extLst>
                  <a:ext uri="{FF2B5EF4-FFF2-40B4-BE49-F238E27FC236}">
                    <a16:creationId xmlns:a16="http://schemas.microsoft.com/office/drawing/2014/main" id="{DA05D356-B3C3-DB64-8E46-35F24E30515E}"/>
                  </a:ext>
                </a:extLst>
              </p:cNvPr>
              <p:cNvSpPr/>
              <p:nvPr/>
            </p:nvSpPr>
            <p:spPr>
              <a:xfrm>
                <a:off x="9397366" y="3366648"/>
                <a:ext cx="365756" cy="990098"/>
              </a:xfrm>
              <a:prstGeom prst="roundRect">
                <a:avLst>
                  <a:gd name="adj" fmla="val 9616"/>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2FF7A8D2-39E7-0DF0-9277-D8D9254AC2B4}"/>
                  </a:ext>
                </a:extLst>
              </p:cNvPr>
              <p:cNvSpPr/>
              <p:nvPr/>
            </p:nvSpPr>
            <p:spPr>
              <a:xfrm>
                <a:off x="9763121" y="3040403"/>
                <a:ext cx="295269" cy="1188707"/>
              </a:xfrm>
              <a:prstGeom prst="roundRect">
                <a:avLst>
                  <a:gd name="adj" fmla="val 9616"/>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Oval 23">
              <a:extLst>
                <a:ext uri="{FF2B5EF4-FFF2-40B4-BE49-F238E27FC236}">
                  <a16:creationId xmlns:a16="http://schemas.microsoft.com/office/drawing/2014/main" id="{AB294B1C-75D8-C169-C38E-6AFE4C0DC17B}"/>
                </a:ext>
              </a:extLst>
            </p:cNvPr>
            <p:cNvSpPr/>
            <p:nvPr/>
          </p:nvSpPr>
          <p:spPr>
            <a:xfrm>
              <a:off x="8321049" y="8388411"/>
              <a:ext cx="1280146" cy="1280146"/>
            </a:xfrm>
            <a:prstGeom prst="ellipse">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902DCCA-73D5-EC8E-6D82-0D566E3B8E0D}"/>
                </a:ext>
              </a:extLst>
            </p:cNvPr>
            <p:cNvSpPr/>
            <p:nvPr/>
          </p:nvSpPr>
          <p:spPr>
            <a:xfrm>
              <a:off x="8576324" y="8662728"/>
              <a:ext cx="750554" cy="750554"/>
            </a:xfrm>
            <a:prstGeom prst="ellipse">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4592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7E2DC-397E-D008-E1CC-178CE332A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F6C35-948A-CAA7-2750-A11B9BC6BC3C}"/>
              </a:ext>
            </a:extLst>
          </p:cNvPr>
          <p:cNvSpPr>
            <a:spLocks noGrp="1"/>
          </p:cNvSpPr>
          <p:nvPr>
            <p:ph type="title"/>
          </p:nvPr>
        </p:nvSpPr>
        <p:spPr>
          <a:xfrm>
            <a:off x="1247775" y="4293393"/>
            <a:ext cx="15773400" cy="1700213"/>
          </a:xfrm>
        </p:spPr>
        <p:txBody>
          <a:bodyPr/>
          <a:lstStyle/>
          <a:p>
            <a:pPr algn="ctr"/>
            <a:r>
              <a:rPr lang="en-US" dirty="0"/>
              <a:t>Screen: </a:t>
            </a:r>
            <a:r>
              <a:rPr lang="en-US" dirty="0" err="1"/>
              <a:t>CleanRL</a:t>
            </a:r>
            <a:r>
              <a:rPr lang="en-US" dirty="0"/>
              <a:t> PPO</a:t>
            </a:r>
          </a:p>
        </p:txBody>
      </p:sp>
    </p:spTree>
    <p:extLst>
      <p:ext uri="{BB962C8B-B14F-4D97-AF65-F5344CB8AC3E}">
        <p14:creationId xmlns:p14="http://schemas.microsoft.com/office/powerpoint/2010/main" val="3266051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804AB-82B5-638D-D6E6-633FA277C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03C29-E906-458A-A58B-D7866C2AE6CD}"/>
              </a:ext>
            </a:extLst>
          </p:cNvPr>
          <p:cNvSpPr>
            <a:spLocks noGrp="1"/>
          </p:cNvSpPr>
          <p:nvPr>
            <p:ph type="title"/>
          </p:nvPr>
        </p:nvSpPr>
        <p:spPr>
          <a:xfrm>
            <a:off x="1257300" y="0"/>
            <a:ext cx="15773400" cy="1988345"/>
          </a:xfrm>
        </p:spPr>
        <p:txBody>
          <a:bodyPr/>
          <a:lstStyle/>
          <a:p>
            <a:pPr algn="ctr"/>
            <a:r>
              <a:rPr lang="en-US" dirty="0"/>
              <a:t>Charts You Should Care About</a:t>
            </a:r>
          </a:p>
        </p:txBody>
      </p:sp>
      <p:pic>
        <p:nvPicPr>
          <p:cNvPr id="4" name="Picture 3">
            <a:extLst>
              <a:ext uri="{FF2B5EF4-FFF2-40B4-BE49-F238E27FC236}">
                <a16:creationId xmlns:a16="http://schemas.microsoft.com/office/drawing/2014/main" id="{0129584F-E2EA-804A-7B48-4DC6742E81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4562" y="2026432"/>
            <a:ext cx="6178689" cy="5669218"/>
          </a:xfrm>
          <a:prstGeom prst="rect">
            <a:avLst/>
          </a:prstGeom>
        </p:spPr>
      </p:pic>
      <p:pic>
        <p:nvPicPr>
          <p:cNvPr id="6" name="Picture 5">
            <a:extLst>
              <a:ext uri="{FF2B5EF4-FFF2-40B4-BE49-F238E27FC236}">
                <a16:creationId xmlns:a16="http://schemas.microsoft.com/office/drawing/2014/main" id="{B06366C8-42B3-855F-317D-91A3FE4F9E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5719" y="2026432"/>
            <a:ext cx="6178689" cy="5669218"/>
          </a:xfrm>
          <a:prstGeom prst="rect">
            <a:avLst/>
          </a:prstGeom>
        </p:spPr>
      </p:pic>
      <p:sp>
        <p:nvSpPr>
          <p:cNvPr id="8" name="TextBox 7">
            <a:extLst>
              <a:ext uri="{FF2B5EF4-FFF2-40B4-BE49-F238E27FC236}">
                <a16:creationId xmlns:a16="http://schemas.microsoft.com/office/drawing/2014/main" id="{9776E702-7833-FBFA-EA6B-BFA634B6840B}"/>
              </a:ext>
            </a:extLst>
          </p:cNvPr>
          <p:cNvSpPr txBox="1"/>
          <p:nvPr/>
        </p:nvSpPr>
        <p:spPr>
          <a:xfrm>
            <a:off x="1554562" y="7798133"/>
            <a:ext cx="6178689" cy="954107"/>
          </a:xfrm>
          <a:prstGeom prst="rect">
            <a:avLst/>
          </a:prstGeom>
          <a:noFill/>
        </p:spPr>
        <p:txBody>
          <a:bodyPr wrap="square" rtlCol="0">
            <a:spAutoFit/>
          </a:bodyPr>
          <a:lstStyle/>
          <a:p>
            <a:r>
              <a:rPr lang="en-US" sz="2800" dirty="0">
                <a:solidFill>
                  <a:schemeClr val="bg1"/>
                </a:solidFill>
                <a:latin typeface="Roboto" panose="02000000000000000000" pitchFamily="2" charset="0"/>
                <a:ea typeface="Roboto" panose="02000000000000000000" pitchFamily="2" charset="0"/>
              </a:rPr>
              <a:t>Total actual rewards from completed episodes</a:t>
            </a:r>
            <a:endParaRPr lang="en-US" sz="2800" dirty="0">
              <a:solidFill>
                <a:schemeClr val="bg1"/>
              </a:solidFill>
              <a:latin typeface="Roboto Mono" panose="00000009000000000000" pitchFamily="49" charset="0"/>
              <a:ea typeface="Roboto Mono" panose="00000009000000000000" pitchFamily="49" charset="0"/>
            </a:endParaRPr>
          </a:p>
        </p:txBody>
      </p:sp>
      <p:sp>
        <p:nvSpPr>
          <p:cNvPr id="10" name="TextBox 9">
            <a:extLst>
              <a:ext uri="{FF2B5EF4-FFF2-40B4-BE49-F238E27FC236}">
                <a16:creationId xmlns:a16="http://schemas.microsoft.com/office/drawing/2014/main" id="{AA971148-82F3-A3E1-23B3-6FF21928FE5E}"/>
              </a:ext>
            </a:extLst>
          </p:cNvPr>
          <p:cNvSpPr txBox="1"/>
          <p:nvPr/>
        </p:nvSpPr>
        <p:spPr>
          <a:xfrm>
            <a:off x="10595719" y="7814646"/>
            <a:ext cx="6178689" cy="954107"/>
          </a:xfrm>
          <a:prstGeom prst="rect">
            <a:avLst/>
          </a:prstGeom>
          <a:noFill/>
        </p:spPr>
        <p:txBody>
          <a:bodyPr wrap="square" rtlCol="0">
            <a:spAutoFit/>
          </a:bodyPr>
          <a:lstStyle/>
          <a:p>
            <a:r>
              <a:rPr lang="en-US" sz="2800" dirty="0">
                <a:solidFill>
                  <a:schemeClr val="bg1"/>
                </a:solidFill>
                <a:latin typeface="Roboto" panose="02000000000000000000" pitchFamily="2" charset="0"/>
                <a:ea typeface="Roboto" panose="02000000000000000000" pitchFamily="2" charset="0"/>
              </a:rPr>
              <a:t>Episode length (timesteps) from completed episodes</a:t>
            </a:r>
            <a:endParaRPr lang="en-US" sz="2800" dirty="0">
              <a:solidFill>
                <a:schemeClr val="bg1"/>
              </a:solidFill>
              <a:latin typeface="Roboto Mono" panose="00000009000000000000" pitchFamily="49" charset="0"/>
              <a:ea typeface="Roboto Mono" panose="00000009000000000000" pitchFamily="49" charset="0"/>
            </a:endParaRPr>
          </a:p>
        </p:txBody>
      </p:sp>
    </p:spTree>
    <p:extLst>
      <p:ext uri="{BB962C8B-B14F-4D97-AF65-F5344CB8AC3E}">
        <p14:creationId xmlns:p14="http://schemas.microsoft.com/office/powerpoint/2010/main" val="477216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0F18C-DB9F-F88A-4DF0-0B631CE9DBD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6979F6A-DE53-C38A-F753-46D8A233F8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4604" y="2034049"/>
            <a:ext cx="6178689" cy="5669218"/>
          </a:xfrm>
          <a:prstGeom prst="rect">
            <a:avLst/>
          </a:prstGeom>
        </p:spPr>
      </p:pic>
      <p:pic>
        <p:nvPicPr>
          <p:cNvPr id="5" name="Picture 4">
            <a:extLst>
              <a:ext uri="{FF2B5EF4-FFF2-40B4-BE49-F238E27FC236}">
                <a16:creationId xmlns:a16="http://schemas.microsoft.com/office/drawing/2014/main" id="{039BFAA7-5719-9438-8692-10401CA797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95718" y="2026432"/>
            <a:ext cx="6178689" cy="5669218"/>
          </a:xfrm>
          <a:prstGeom prst="rect">
            <a:avLst/>
          </a:prstGeom>
        </p:spPr>
      </p:pic>
      <p:sp>
        <p:nvSpPr>
          <p:cNvPr id="2" name="Title 1">
            <a:extLst>
              <a:ext uri="{FF2B5EF4-FFF2-40B4-BE49-F238E27FC236}">
                <a16:creationId xmlns:a16="http://schemas.microsoft.com/office/drawing/2014/main" id="{8E03F6AC-04E8-6CE6-D72F-A6B58BFF7C7A}"/>
              </a:ext>
            </a:extLst>
          </p:cNvPr>
          <p:cNvSpPr>
            <a:spLocks noGrp="1"/>
          </p:cNvSpPr>
          <p:nvPr>
            <p:ph type="title"/>
          </p:nvPr>
        </p:nvSpPr>
        <p:spPr>
          <a:xfrm>
            <a:off x="1257300" y="0"/>
            <a:ext cx="15773400" cy="1988345"/>
          </a:xfrm>
        </p:spPr>
        <p:txBody>
          <a:bodyPr/>
          <a:lstStyle/>
          <a:p>
            <a:pPr algn="ctr"/>
            <a:r>
              <a:rPr lang="en-US" dirty="0"/>
              <a:t>Charts You Should Care About</a:t>
            </a:r>
          </a:p>
        </p:txBody>
      </p:sp>
      <p:sp>
        <p:nvSpPr>
          <p:cNvPr id="8" name="TextBox 7">
            <a:extLst>
              <a:ext uri="{FF2B5EF4-FFF2-40B4-BE49-F238E27FC236}">
                <a16:creationId xmlns:a16="http://schemas.microsoft.com/office/drawing/2014/main" id="{E36E7277-CFD7-DE4E-C0C7-E04D807C8D4E}"/>
              </a:ext>
            </a:extLst>
          </p:cNvPr>
          <p:cNvSpPr txBox="1"/>
          <p:nvPr/>
        </p:nvSpPr>
        <p:spPr>
          <a:xfrm>
            <a:off x="1554562" y="7798133"/>
            <a:ext cx="6178689" cy="1815882"/>
          </a:xfrm>
          <a:prstGeom prst="rect">
            <a:avLst/>
          </a:prstGeom>
          <a:noFill/>
        </p:spPr>
        <p:txBody>
          <a:bodyPr wrap="square" rtlCol="0">
            <a:spAutoFit/>
          </a:bodyPr>
          <a:lstStyle/>
          <a:p>
            <a:r>
              <a:rPr lang="en-US" sz="2800" dirty="0">
                <a:solidFill>
                  <a:schemeClr val="bg1"/>
                </a:solidFill>
                <a:latin typeface="Roboto" panose="02000000000000000000" pitchFamily="2" charset="0"/>
                <a:ea typeface="Roboto" panose="02000000000000000000" pitchFamily="2" charset="0"/>
              </a:rPr>
              <a:t>Spread of action probabilities from actor NN. Shows how much actor is committing to actions (explore vs. exploit).</a:t>
            </a:r>
            <a:endParaRPr lang="en-US" sz="2800" dirty="0">
              <a:solidFill>
                <a:schemeClr val="bg1"/>
              </a:solidFill>
              <a:latin typeface="Roboto Mono" panose="00000009000000000000" pitchFamily="49" charset="0"/>
              <a:ea typeface="Roboto Mono" panose="00000009000000000000" pitchFamily="49" charset="0"/>
            </a:endParaRPr>
          </a:p>
        </p:txBody>
      </p:sp>
      <p:sp>
        <p:nvSpPr>
          <p:cNvPr id="10" name="TextBox 9">
            <a:extLst>
              <a:ext uri="{FF2B5EF4-FFF2-40B4-BE49-F238E27FC236}">
                <a16:creationId xmlns:a16="http://schemas.microsoft.com/office/drawing/2014/main" id="{E8177A55-08C6-3190-27F9-80036F0686F4}"/>
              </a:ext>
            </a:extLst>
          </p:cNvPr>
          <p:cNvSpPr txBox="1"/>
          <p:nvPr/>
        </p:nvSpPr>
        <p:spPr>
          <a:xfrm>
            <a:off x="9509756" y="7814646"/>
            <a:ext cx="8747756" cy="2677656"/>
          </a:xfrm>
          <a:prstGeom prst="rect">
            <a:avLst/>
          </a:prstGeom>
          <a:noFill/>
        </p:spPr>
        <p:txBody>
          <a:bodyPr wrap="square" rtlCol="0">
            <a:spAutoFit/>
          </a:bodyPr>
          <a:lstStyle/>
          <a:p>
            <a:r>
              <a:rPr lang="en-US" sz="2800" dirty="0">
                <a:solidFill>
                  <a:schemeClr val="bg1"/>
                </a:solidFill>
                <a:latin typeface="Roboto" panose="02000000000000000000" pitchFamily="2" charset="0"/>
                <a:ea typeface="Roboto" panose="02000000000000000000" pitchFamily="2" charset="0"/>
              </a:rPr>
              <a:t>Compare critic vs. actual returns:</a:t>
            </a:r>
          </a:p>
          <a:p>
            <a:pPr marL="457200" indent="-457200">
              <a:buFont typeface="Arial" panose="020B0604020202020204" pitchFamily="34" charset="0"/>
              <a:buChar char="•"/>
            </a:pPr>
            <a:r>
              <a:rPr lang="en-US" sz="2800" dirty="0">
                <a:solidFill>
                  <a:schemeClr val="bg1"/>
                </a:solidFill>
                <a:latin typeface="Roboto" panose="02000000000000000000" pitchFamily="2" charset="0"/>
                <a:ea typeface="Roboto" panose="02000000000000000000" pitchFamily="2" charset="0"/>
              </a:rPr>
              <a:t>1.0: critic predicted perfectly</a:t>
            </a:r>
          </a:p>
          <a:p>
            <a:pPr marL="457200" indent="-457200">
              <a:buFont typeface="Arial" panose="020B0604020202020204" pitchFamily="34" charset="0"/>
              <a:buChar char="•"/>
            </a:pPr>
            <a:r>
              <a:rPr lang="en-US" sz="2800" dirty="0">
                <a:solidFill>
                  <a:schemeClr val="bg1"/>
                </a:solidFill>
                <a:latin typeface="Roboto" panose="02000000000000000000" pitchFamily="2" charset="0"/>
                <a:ea typeface="Roboto" panose="02000000000000000000" pitchFamily="2" charset="0"/>
              </a:rPr>
              <a:t>0: no better than predicting the batch average return at each timestep</a:t>
            </a:r>
          </a:p>
          <a:p>
            <a:pPr marL="457200" indent="-457200">
              <a:buFont typeface="Arial" panose="020B0604020202020204" pitchFamily="34" charset="0"/>
              <a:buChar char="•"/>
            </a:pPr>
            <a:r>
              <a:rPr lang="en-US" sz="2800" dirty="0">
                <a:solidFill>
                  <a:schemeClr val="bg1"/>
                </a:solidFill>
                <a:latin typeface="Roboto" panose="02000000000000000000" pitchFamily="2" charset="0"/>
                <a:ea typeface="Roboto" panose="02000000000000000000" pitchFamily="2" charset="0"/>
              </a:rPr>
              <a:t>Negative: critic is worse than predicting the mean</a:t>
            </a:r>
          </a:p>
          <a:p>
            <a:endParaRPr lang="en-US" sz="2800" dirty="0">
              <a:solidFill>
                <a:schemeClr val="bg1"/>
              </a:solidFill>
              <a:latin typeface="Roboto Mono" panose="00000009000000000000" pitchFamily="49" charset="0"/>
              <a:ea typeface="Roboto Mono" panose="00000009000000000000" pitchFamily="49" charset="0"/>
            </a:endParaRPr>
          </a:p>
        </p:txBody>
      </p:sp>
    </p:spTree>
    <p:extLst>
      <p:ext uri="{BB962C8B-B14F-4D97-AF65-F5344CB8AC3E}">
        <p14:creationId xmlns:p14="http://schemas.microsoft.com/office/powerpoint/2010/main" val="3699411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E0813-AB63-127E-1B48-833E319A5D6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BC8E247-B538-6A3B-D805-63C0A8D797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5717" y="2034049"/>
            <a:ext cx="6178689" cy="5669218"/>
          </a:xfrm>
          <a:prstGeom prst="rect">
            <a:avLst/>
          </a:prstGeom>
        </p:spPr>
      </p:pic>
      <p:pic>
        <p:nvPicPr>
          <p:cNvPr id="4" name="Picture 3">
            <a:extLst>
              <a:ext uri="{FF2B5EF4-FFF2-40B4-BE49-F238E27FC236}">
                <a16:creationId xmlns:a16="http://schemas.microsoft.com/office/drawing/2014/main" id="{29D60729-CB91-E842-0DA7-F0908495EB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4609" y="2034049"/>
            <a:ext cx="6170387" cy="5661601"/>
          </a:xfrm>
          <a:prstGeom prst="rect">
            <a:avLst/>
          </a:prstGeom>
        </p:spPr>
      </p:pic>
      <p:sp>
        <p:nvSpPr>
          <p:cNvPr id="2" name="Title 1">
            <a:extLst>
              <a:ext uri="{FF2B5EF4-FFF2-40B4-BE49-F238E27FC236}">
                <a16:creationId xmlns:a16="http://schemas.microsoft.com/office/drawing/2014/main" id="{DE3AFFB3-8833-73B8-9354-F75439658589}"/>
              </a:ext>
            </a:extLst>
          </p:cNvPr>
          <p:cNvSpPr>
            <a:spLocks noGrp="1"/>
          </p:cNvSpPr>
          <p:nvPr>
            <p:ph type="title"/>
          </p:nvPr>
        </p:nvSpPr>
        <p:spPr>
          <a:xfrm>
            <a:off x="1257300" y="0"/>
            <a:ext cx="15773400" cy="1988345"/>
          </a:xfrm>
        </p:spPr>
        <p:txBody>
          <a:bodyPr/>
          <a:lstStyle/>
          <a:p>
            <a:pPr algn="ctr"/>
            <a:r>
              <a:rPr lang="en-US" dirty="0"/>
              <a:t>Charts You Should Care About</a:t>
            </a:r>
          </a:p>
        </p:txBody>
      </p:sp>
      <p:sp>
        <p:nvSpPr>
          <p:cNvPr id="8" name="TextBox 7">
            <a:extLst>
              <a:ext uri="{FF2B5EF4-FFF2-40B4-BE49-F238E27FC236}">
                <a16:creationId xmlns:a16="http://schemas.microsoft.com/office/drawing/2014/main" id="{1305244E-6352-2114-C02E-D8AFC7A16731}"/>
              </a:ext>
            </a:extLst>
          </p:cNvPr>
          <p:cNvSpPr txBox="1"/>
          <p:nvPr/>
        </p:nvSpPr>
        <p:spPr>
          <a:xfrm>
            <a:off x="1554562" y="7798133"/>
            <a:ext cx="6178689" cy="1815882"/>
          </a:xfrm>
          <a:prstGeom prst="rect">
            <a:avLst/>
          </a:prstGeom>
          <a:noFill/>
        </p:spPr>
        <p:txBody>
          <a:bodyPr wrap="square" rtlCol="0">
            <a:spAutoFit/>
          </a:bodyPr>
          <a:lstStyle/>
          <a:p>
            <a:r>
              <a:rPr lang="en-US" sz="2800" dirty="0">
                <a:solidFill>
                  <a:schemeClr val="bg1"/>
                </a:solidFill>
                <a:latin typeface="Roboto" panose="02000000000000000000" pitchFamily="2" charset="0"/>
                <a:ea typeface="Roboto" panose="02000000000000000000" pitchFamily="2" charset="0"/>
              </a:rPr>
              <a:t>KL divergence: how far the policy’s action distribution has moved from the policy that collected the batch. ~0.01-0.02 is healthy.</a:t>
            </a:r>
          </a:p>
        </p:txBody>
      </p:sp>
      <p:sp>
        <p:nvSpPr>
          <p:cNvPr id="12" name="TextBox 11">
            <a:extLst>
              <a:ext uri="{FF2B5EF4-FFF2-40B4-BE49-F238E27FC236}">
                <a16:creationId xmlns:a16="http://schemas.microsoft.com/office/drawing/2014/main" id="{91807790-E057-0779-4B90-DAF6CD73451B}"/>
              </a:ext>
            </a:extLst>
          </p:cNvPr>
          <p:cNvSpPr txBox="1"/>
          <p:nvPr/>
        </p:nvSpPr>
        <p:spPr>
          <a:xfrm>
            <a:off x="10595719" y="7814646"/>
            <a:ext cx="6178689" cy="2246769"/>
          </a:xfrm>
          <a:prstGeom prst="rect">
            <a:avLst/>
          </a:prstGeom>
          <a:noFill/>
        </p:spPr>
        <p:txBody>
          <a:bodyPr wrap="square" rtlCol="0">
            <a:spAutoFit/>
          </a:bodyPr>
          <a:lstStyle/>
          <a:p>
            <a:r>
              <a:rPr lang="en-US" sz="2800" dirty="0">
                <a:solidFill>
                  <a:schemeClr val="bg1"/>
                </a:solidFill>
                <a:latin typeface="Roboto" panose="02000000000000000000" pitchFamily="2" charset="0"/>
                <a:ea typeface="Roboto" panose="02000000000000000000" pitchFamily="2" charset="0"/>
              </a:rPr>
              <a:t>Fraction of samples whose probability ratio (new policy vs. old) moved beyond +/-20% (the objective stops rewarding further movement). ~0.1–0.3 is healthy.</a:t>
            </a:r>
          </a:p>
        </p:txBody>
      </p:sp>
    </p:spTree>
    <p:extLst>
      <p:ext uri="{BB962C8B-B14F-4D97-AF65-F5344CB8AC3E}">
        <p14:creationId xmlns:p14="http://schemas.microsoft.com/office/powerpoint/2010/main" val="1624701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7A79F-991F-B5D6-B3C0-31F9616CF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8E039-BFDF-9DD7-79FB-16FEF42A67CB}"/>
              </a:ext>
            </a:extLst>
          </p:cNvPr>
          <p:cNvSpPr>
            <a:spLocks noGrp="1"/>
          </p:cNvSpPr>
          <p:nvPr>
            <p:ph type="title"/>
          </p:nvPr>
        </p:nvSpPr>
        <p:spPr>
          <a:xfrm>
            <a:off x="1247775" y="4293393"/>
            <a:ext cx="15773400" cy="1700213"/>
          </a:xfrm>
        </p:spPr>
        <p:txBody>
          <a:bodyPr/>
          <a:lstStyle/>
          <a:p>
            <a:pPr algn="ctr"/>
            <a:r>
              <a:rPr lang="en-US" dirty="0"/>
              <a:t>Screen: Training Phase 3</a:t>
            </a:r>
          </a:p>
        </p:txBody>
      </p:sp>
    </p:spTree>
    <p:extLst>
      <p:ext uri="{BB962C8B-B14F-4D97-AF65-F5344CB8AC3E}">
        <p14:creationId xmlns:p14="http://schemas.microsoft.com/office/powerpoint/2010/main" val="1572396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FA2C4-4E86-F198-702F-9A3E3D04E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E3867-36B8-5D07-1774-F32A91B5F908}"/>
              </a:ext>
            </a:extLst>
          </p:cNvPr>
          <p:cNvSpPr>
            <a:spLocks noGrp="1"/>
          </p:cNvSpPr>
          <p:nvPr>
            <p:ph type="title"/>
          </p:nvPr>
        </p:nvSpPr>
        <p:spPr>
          <a:xfrm>
            <a:off x="1257300" y="0"/>
            <a:ext cx="15773400" cy="1988345"/>
          </a:xfrm>
        </p:spPr>
        <p:txBody>
          <a:bodyPr/>
          <a:lstStyle/>
          <a:p>
            <a:pPr algn="ctr"/>
            <a:r>
              <a:rPr lang="en-US" dirty="0"/>
              <a:t>Position, Velocity, Heading Estimation</a:t>
            </a:r>
          </a:p>
        </p:txBody>
      </p:sp>
      <p:grpSp>
        <p:nvGrpSpPr>
          <p:cNvPr id="3" name="Group 2">
            <a:extLst>
              <a:ext uri="{FF2B5EF4-FFF2-40B4-BE49-F238E27FC236}">
                <a16:creationId xmlns:a16="http://schemas.microsoft.com/office/drawing/2014/main" id="{374CC84D-8F57-5E9F-5F25-83DA7C0C572F}"/>
              </a:ext>
            </a:extLst>
          </p:cNvPr>
          <p:cNvGrpSpPr/>
          <p:nvPr/>
        </p:nvGrpSpPr>
        <p:grpSpPr>
          <a:xfrm rot="900000">
            <a:off x="13599033" y="4567371"/>
            <a:ext cx="661024" cy="1316343"/>
            <a:chOff x="9397366" y="3040403"/>
            <a:chExt cx="661024" cy="1316343"/>
          </a:xfrm>
        </p:grpSpPr>
        <p:sp>
          <p:nvSpPr>
            <p:cNvPr id="5" name="Rectangle: Rounded Corners 4">
              <a:extLst>
                <a:ext uri="{FF2B5EF4-FFF2-40B4-BE49-F238E27FC236}">
                  <a16:creationId xmlns:a16="http://schemas.microsoft.com/office/drawing/2014/main" id="{A59D573B-C86B-448C-6634-0E3DA6B3D15E}"/>
                </a:ext>
              </a:extLst>
            </p:cNvPr>
            <p:cNvSpPr/>
            <p:nvPr/>
          </p:nvSpPr>
          <p:spPr>
            <a:xfrm>
              <a:off x="9397366" y="3366648"/>
              <a:ext cx="365756" cy="990098"/>
            </a:xfrm>
            <a:prstGeom prst="roundRect">
              <a:avLst>
                <a:gd name="adj" fmla="val 9616"/>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B9EA1AF-4BC1-DA24-833C-FA442EF5F2F3}"/>
                </a:ext>
              </a:extLst>
            </p:cNvPr>
            <p:cNvSpPr/>
            <p:nvPr/>
          </p:nvSpPr>
          <p:spPr>
            <a:xfrm>
              <a:off x="9763121" y="3040403"/>
              <a:ext cx="295269" cy="1188707"/>
            </a:xfrm>
            <a:prstGeom prst="roundRect">
              <a:avLst>
                <a:gd name="adj" fmla="val 9616"/>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Oval 6">
            <a:extLst>
              <a:ext uri="{FF2B5EF4-FFF2-40B4-BE49-F238E27FC236}">
                <a16:creationId xmlns:a16="http://schemas.microsoft.com/office/drawing/2014/main" id="{39DE2943-5244-FFCA-03D5-8FF64C18A23A}"/>
              </a:ext>
            </a:extLst>
          </p:cNvPr>
          <p:cNvSpPr/>
          <p:nvPr/>
        </p:nvSpPr>
        <p:spPr>
          <a:xfrm>
            <a:off x="13075877" y="5417819"/>
            <a:ext cx="1280146" cy="1280146"/>
          </a:xfrm>
          <a:prstGeom prst="ellipse">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EBFDC54-2D06-822E-6C97-EF380644475D}"/>
              </a:ext>
            </a:extLst>
          </p:cNvPr>
          <p:cNvSpPr/>
          <p:nvPr/>
        </p:nvSpPr>
        <p:spPr>
          <a:xfrm>
            <a:off x="13331152" y="5692136"/>
            <a:ext cx="750554" cy="750554"/>
          </a:xfrm>
          <a:prstGeom prst="ellipse">
            <a:avLst/>
          </a:prstGeom>
          <a:solidFill>
            <a:schemeClr val="tx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D5306B3-73A0-5AB5-8966-D543061455E8}"/>
              </a:ext>
            </a:extLst>
          </p:cNvPr>
          <p:cNvGrpSpPr/>
          <p:nvPr/>
        </p:nvGrpSpPr>
        <p:grpSpPr>
          <a:xfrm flipH="1">
            <a:off x="11887170" y="6697963"/>
            <a:ext cx="3834720" cy="173731"/>
            <a:chOff x="7136154" y="5143498"/>
            <a:chExt cx="3834720" cy="173731"/>
          </a:xfrm>
        </p:grpSpPr>
        <p:cxnSp>
          <p:nvCxnSpPr>
            <p:cNvPr id="11" name="Straight Connector 10">
              <a:extLst>
                <a:ext uri="{FF2B5EF4-FFF2-40B4-BE49-F238E27FC236}">
                  <a16:creationId xmlns:a16="http://schemas.microsoft.com/office/drawing/2014/main" id="{ABD7B6A4-01EA-62C7-E1B2-48505477353D}"/>
                </a:ext>
              </a:extLst>
            </p:cNvPr>
            <p:cNvCxnSpPr>
              <a:cxnSpLocks/>
            </p:cNvCxnSpPr>
            <p:nvPr/>
          </p:nvCxnSpPr>
          <p:spPr>
            <a:xfrm flipV="1">
              <a:off x="7317126" y="5143498"/>
              <a:ext cx="3653748" cy="2"/>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6A8F169-BC3E-7C03-D6E0-041EF4CF08C4}"/>
                </a:ext>
              </a:extLst>
            </p:cNvPr>
            <p:cNvCxnSpPr>
              <a:cxnSpLocks/>
            </p:cNvCxnSpPr>
            <p:nvPr/>
          </p:nvCxnSpPr>
          <p:spPr>
            <a:xfrm flipV="1">
              <a:off x="7136154" y="5143500"/>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48C07B9-785D-BA74-A986-CB7A93D3334E}"/>
                </a:ext>
              </a:extLst>
            </p:cNvPr>
            <p:cNvCxnSpPr>
              <a:cxnSpLocks/>
            </p:cNvCxnSpPr>
            <p:nvPr/>
          </p:nvCxnSpPr>
          <p:spPr>
            <a:xfrm flipV="1">
              <a:off x="8048638" y="5143500"/>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E8005C2-CC17-AC81-8EDA-6ED47978E971}"/>
                </a:ext>
              </a:extLst>
            </p:cNvPr>
            <p:cNvCxnSpPr>
              <a:cxnSpLocks/>
            </p:cNvCxnSpPr>
            <p:nvPr/>
          </p:nvCxnSpPr>
          <p:spPr>
            <a:xfrm flipV="1">
              <a:off x="8963028" y="5143499"/>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93F98E4-3CDC-532D-394C-5B6B54688E8D}"/>
                </a:ext>
              </a:extLst>
            </p:cNvPr>
            <p:cNvCxnSpPr>
              <a:cxnSpLocks/>
            </p:cNvCxnSpPr>
            <p:nvPr/>
          </p:nvCxnSpPr>
          <p:spPr>
            <a:xfrm flipV="1">
              <a:off x="9877418" y="5143499"/>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4F739DA-B374-3B63-A07D-CD752B6F4454}"/>
                </a:ext>
              </a:extLst>
            </p:cNvPr>
            <p:cNvCxnSpPr>
              <a:cxnSpLocks/>
            </p:cNvCxnSpPr>
            <p:nvPr/>
          </p:nvCxnSpPr>
          <p:spPr>
            <a:xfrm flipV="1">
              <a:off x="10789902" y="5143498"/>
              <a:ext cx="180972" cy="173729"/>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A6B76D2B-E8D7-8218-38D1-83C11FB13C98}"/>
              </a:ext>
            </a:extLst>
          </p:cNvPr>
          <p:cNvSpPr txBox="1"/>
          <p:nvPr/>
        </p:nvSpPr>
        <p:spPr>
          <a:xfrm>
            <a:off x="14493758" y="4848673"/>
            <a:ext cx="2722220" cy="1077218"/>
          </a:xfrm>
          <a:prstGeom prst="rect">
            <a:avLst/>
          </a:prstGeom>
          <a:noFill/>
        </p:spPr>
        <p:txBody>
          <a:bodyPr wrap="none" rtlCol="0">
            <a:spAutoFit/>
          </a:bodyPr>
          <a:lstStyle/>
          <a:p>
            <a:r>
              <a:rPr lang="en-US" sz="3200" dirty="0">
                <a:solidFill>
                  <a:schemeClr val="bg1"/>
                </a:solidFill>
                <a:latin typeface="Roboto" panose="02000000000000000000" pitchFamily="2" charset="0"/>
                <a:ea typeface="Roboto" panose="02000000000000000000" pitchFamily="2" charset="0"/>
              </a:rPr>
              <a:t>Bala-C Plus </a:t>
            </a:r>
          </a:p>
          <a:p>
            <a:r>
              <a:rPr lang="en-US" sz="3200" dirty="0">
                <a:solidFill>
                  <a:schemeClr val="bg1"/>
                </a:solidFill>
                <a:latin typeface="Roboto" panose="02000000000000000000" pitchFamily="2" charset="0"/>
                <a:ea typeface="Roboto" panose="02000000000000000000" pitchFamily="2" charset="0"/>
              </a:rPr>
              <a:t>(no encoders)</a:t>
            </a:r>
          </a:p>
        </p:txBody>
      </p:sp>
      <p:sp>
        <p:nvSpPr>
          <p:cNvPr id="23" name="TextBox 22">
            <a:extLst>
              <a:ext uri="{FF2B5EF4-FFF2-40B4-BE49-F238E27FC236}">
                <a16:creationId xmlns:a16="http://schemas.microsoft.com/office/drawing/2014/main" id="{380C4092-643C-4701-E32A-E637C31378FA}"/>
              </a:ext>
            </a:extLst>
          </p:cNvPr>
          <p:cNvSpPr txBox="1"/>
          <p:nvPr/>
        </p:nvSpPr>
        <p:spPr>
          <a:xfrm>
            <a:off x="1041554" y="2802036"/>
            <a:ext cx="10306026" cy="3539430"/>
          </a:xfrm>
          <a:prstGeom prst="rect">
            <a:avLst/>
          </a:prstGeom>
          <a:noFill/>
        </p:spPr>
        <p:txBody>
          <a:bodyPr wrap="none" rtlCol="0">
            <a:spAutoFit/>
          </a:bodyPr>
          <a:lstStyle/>
          <a:p>
            <a:r>
              <a:rPr lang="en-US" sz="3200" dirty="0">
                <a:solidFill>
                  <a:schemeClr val="accent3"/>
                </a:solidFill>
                <a:latin typeface="Roboto Mono" panose="00000009000000000000" pitchFamily="49" charset="0"/>
                <a:ea typeface="Roboto Mono" panose="00000009000000000000" pitchFamily="49" charset="0"/>
              </a:rPr>
              <a:t># Command leaky integration: proportional</a:t>
            </a:r>
          </a:p>
          <a:p>
            <a:r>
              <a:rPr lang="en-US" sz="3200" dirty="0">
                <a:solidFill>
                  <a:schemeClr val="accent3"/>
                </a:solidFill>
                <a:latin typeface="Roboto Mono" panose="00000009000000000000" pitchFamily="49" charset="0"/>
                <a:ea typeface="Roboto Mono" panose="00000009000000000000" pitchFamily="49" charset="0"/>
              </a:rPr>
              <a:t># to forward velocity/position</a:t>
            </a:r>
          </a:p>
          <a:p>
            <a:r>
              <a:rPr lang="en-US" sz="3200" dirty="0" err="1">
                <a:solidFill>
                  <a:schemeClr val="bg1"/>
                </a:solidFill>
                <a:latin typeface="Roboto Mono" panose="00000009000000000000" pitchFamily="49" charset="0"/>
                <a:ea typeface="Roboto Mono" panose="00000009000000000000" pitchFamily="49" charset="0"/>
              </a:rPr>
              <a:t>cmd</a:t>
            </a:r>
            <a:r>
              <a:rPr lang="en-US" sz="3200" dirty="0">
                <a:solidFill>
                  <a:schemeClr val="bg1"/>
                </a:solidFill>
                <a:latin typeface="Roboto Mono" panose="00000009000000000000" pitchFamily="49" charset="0"/>
                <a:ea typeface="Roboto Mono" panose="00000009000000000000" pitchFamily="49" charset="0"/>
              </a:rPr>
              <a:t> = </a:t>
            </a:r>
            <a:r>
              <a:rPr lang="en-US" sz="3200" dirty="0">
                <a:solidFill>
                  <a:schemeClr val="accent6"/>
                </a:solidFill>
                <a:latin typeface="Roboto Mono" panose="00000009000000000000" pitchFamily="49" charset="0"/>
                <a:ea typeface="Roboto Mono" panose="00000009000000000000" pitchFamily="49" charset="0"/>
              </a:rPr>
              <a:t>0.5</a:t>
            </a:r>
            <a:r>
              <a:rPr lang="en-US" sz="3200" dirty="0">
                <a:solidFill>
                  <a:schemeClr val="bg1"/>
                </a:solidFill>
                <a:latin typeface="Roboto Mono" panose="00000009000000000000" pitchFamily="49" charset="0"/>
                <a:ea typeface="Roboto Mono" panose="00000009000000000000" pitchFamily="49" charset="0"/>
              </a:rPr>
              <a:t> * (action[0] + action[1])</a:t>
            </a:r>
          </a:p>
          <a:p>
            <a:r>
              <a:rPr lang="en-US" sz="3200" dirty="0" err="1">
                <a:solidFill>
                  <a:schemeClr val="bg1"/>
                </a:solidFill>
                <a:latin typeface="Roboto Mono" panose="00000009000000000000" pitchFamily="49" charset="0"/>
                <a:ea typeface="Roboto Mono" panose="00000009000000000000" pitchFamily="49" charset="0"/>
              </a:rPr>
              <a:t>cmd_vel</a:t>
            </a:r>
            <a:r>
              <a:rPr lang="en-US" sz="3200" dirty="0">
                <a:solidFill>
                  <a:schemeClr val="bg1"/>
                </a:solidFill>
                <a:latin typeface="Roboto Mono" panose="00000009000000000000" pitchFamily="49" charset="0"/>
                <a:ea typeface="Roboto Mono" panose="00000009000000000000" pitchFamily="49" charset="0"/>
              </a:rPr>
              <a:t> = </a:t>
            </a:r>
            <a:r>
              <a:rPr lang="en-US" sz="3200" dirty="0">
                <a:solidFill>
                  <a:schemeClr val="accent6"/>
                </a:solidFill>
                <a:latin typeface="Roboto Mono" panose="00000009000000000000" pitchFamily="49" charset="0"/>
                <a:ea typeface="Roboto Mono" panose="00000009000000000000" pitchFamily="49" charset="0"/>
              </a:rPr>
              <a:t>0.995</a:t>
            </a:r>
            <a:r>
              <a:rPr lang="en-US" sz="3200" dirty="0">
                <a:solidFill>
                  <a:schemeClr val="bg1"/>
                </a:solidFill>
                <a:latin typeface="Roboto Mono" panose="00000009000000000000" pitchFamily="49" charset="0"/>
                <a:ea typeface="Roboto Mono" panose="00000009000000000000" pitchFamily="49" charset="0"/>
              </a:rPr>
              <a:t> * </a:t>
            </a:r>
          </a:p>
          <a:p>
            <a:r>
              <a:rPr lang="en-US" sz="3200" dirty="0">
                <a:solidFill>
                  <a:schemeClr val="bg1"/>
                </a:solidFill>
                <a:latin typeface="Roboto Mono" panose="00000009000000000000" pitchFamily="49" charset="0"/>
                <a:ea typeface="Roboto Mono" panose="00000009000000000000" pitchFamily="49" charset="0"/>
              </a:rPr>
              <a:t>	(</a:t>
            </a:r>
            <a:r>
              <a:rPr lang="en-US" sz="3200" dirty="0" err="1">
                <a:solidFill>
                  <a:schemeClr val="bg1"/>
                </a:solidFill>
                <a:latin typeface="Roboto Mono" panose="00000009000000000000" pitchFamily="49" charset="0"/>
                <a:ea typeface="Roboto Mono" panose="00000009000000000000" pitchFamily="49" charset="0"/>
              </a:rPr>
              <a:t>cmd_vel</a:t>
            </a:r>
            <a:r>
              <a:rPr lang="en-US" sz="3200" dirty="0">
                <a:solidFill>
                  <a:schemeClr val="bg1"/>
                </a:solidFill>
                <a:latin typeface="Roboto Mono" panose="00000009000000000000" pitchFamily="49" charset="0"/>
                <a:ea typeface="Roboto Mono" panose="00000009000000000000" pitchFamily="49" charset="0"/>
              </a:rPr>
              <a:t> + </a:t>
            </a:r>
            <a:r>
              <a:rPr lang="en-US" sz="3200" dirty="0" err="1">
                <a:solidFill>
                  <a:schemeClr val="bg1"/>
                </a:solidFill>
                <a:latin typeface="Roboto Mono" panose="00000009000000000000" pitchFamily="49" charset="0"/>
                <a:ea typeface="Roboto Mono" panose="00000009000000000000" pitchFamily="49" charset="0"/>
              </a:rPr>
              <a:t>cmd</a:t>
            </a:r>
            <a:r>
              <a:rPr lang="en-US" sz="3200" dirty="0">
                <a:solidFill>
                  <a:schemeClr val="bg1"/>
                </a:solidFill>
                <a:latin typeface="Roboto Mono" panose="00000009000000000000" pitchFamily="49" charset="0"/>
                <a:ea typeface="Roboto Mono" panose="00000009000000000000" pitchFamily="49" charset="0"/>
              </a:rPr>
              <a:t> * dt)</a:t>
            </a:r>
          </a:p>
          <a:p>
            <a:r>
              <a:rPr lang="en-US" sz="3200" dirty="0" err="1">
                <a:solidFill>
                  <a:schemeClr val="bg1"/>
                </a:solidFill>
                <a:latin typeface="Roboto Mono" panose="00000009000000000000" pitchFamily="49" charset="0"/>
                <a:ea typeface="Roboto Mono" panose="00000009000000000000" pitchFamily="49" charset="0"/>
              </a:rPr>
              <a:t>cmd_pos</a:t>
            </a:r>
            <a:r>
              <a:rPr lang="en-US" sz="3200" dirty="0">
                <a:solidFill>
                  <a:schemeClr val="bg1"/>
                </a:solidFill>
                <a:latin typeface="Roboto Mono" panose="00000009000000000000" pitchFamily="49" charset="0"/>
                <a:ea typeface="Roboto Mono" panose="00000009000000000000" pitchFamily="49" charset="0"/>
              </a:rPr>
              <a:t> = </a:t>
            </a:r>
            <a:r>
              <a:rPr lang="en-US" sz="3200" dirty="0">
                <a:solidFill>
                  <a:schemeClr val="accent6"/>
                </a:solidFill>
                <a:latin typeface="Roboto Mono" panose="00000009000000000000" pitchFamily="49" charset="0"/>
                <a:ea typeface="Roboto Mono" panose="00000009000000000000" pitchFamily="49" charset="0"/>
              </a:rPr>
              <a:t>1.0</a:t>
            </a:r>
            <a:r>
              <a:rPr lang="en-US" sz="3200" dirty="0">
                <a:solidFill>
                  <a:schemeClr val="bg1"/>
                </a:solidFill>
                <a:latin typeface="Roboto Mono" panose="00000009000000000000" pitchFamily="49" charset="0"/>
                <a:ea typeface="Roboto Mono" panose="00000009000000000000" pitchFamily="49" charset="0"/>
              </a:rPr>
              <a:t> * </a:t>
            </a:r>
          </a:p>
          <a:p>
            <a:r>
              <a:rPr lang="en-US" sz="3200" dirty="0">
                <a:solidFill>
                  <a:schemeClr val="bg1"/>
                </a:solidFill>
                <a:latin typeface="Roboto Mono" panose="00000009000000000000" pitchFamily="49" charset="0"/>
                <a:ea typeface="Roboto Mono" panose="00000009000000000000" pitchFamily="49" charset="0"/>
              </a:rPr>
              <a:t>	(</a:t>
            </a:r>
            <a:r>
              <a:rPr lang="en-US" sz="3200" dirty="0" err="1">
                <a:solidFill>
                  <a:schemeClr val="bg1"/>
                </a:solidFill>
                <a:latin typeface="Roboto Mono" panose="00000009000000000000" pitchFamily="49" charset="0"/>
                <a:ea typeface="Roboto Mono" panose="00000009000000000000" pitchFamily="49" charset="0"/>
              </a:rPr>
              <a:t>cmd_pos</a:t>
            </a:r>
            <a:r>
              <a:rPr lang="en-US" sz="3200" dirty="0">
                <a:solidFill>
                  <a:schemeClr val="bg1"/>
                </a:solidFill>
                <a:latin typeface="Roboto Mono" panose="00000009000000000000" pitchFamily="49" charset="0"/>
                <a:ea typeface="Roboto Mono" panose="00000009000000000000" pitchFamily="49" charset="0"/>
              </a:rPr>
              <a:t> + </a:t>
            </a:r>
            <a:r>
              <a:rPr lang="en-US" sz="3200" dirty="0" err="1">
                <a:solidFill>
                  <a:schemeClr val="bg1"/>
                </a:solidFill>
                <a:latin typeface="Roboto Mono" panose="00000009000000000000" pitchFamily="49" charset="0"/>
                <a:ea typeface="Roboto Mono" panose="00000009000000000000" pitchFamily="49" charset="0"/>
              </a:rPr>
              <a:t>cmd_vel</a:t>
            </a:r>
            <a:r>
              <a:rPr lang="en-US" sz="3200" dirty="0">
                <a:solidFill>
                  <a:schemeClr val="bg1"/>
                </a:solidFill>
                <a:latin typeface="Roboto Mono" panose="00000009000000000000" pitchFamily="49" charset="0"/>
                <a:ea typeface="Roboto Mono" panose="00000009000000000000" pitchFamily="49" charset="0"/>
              </a:rPr>
              <a:t> * dt)</a:t>
            </a:r>
          </a:p>
        </p:txBody>
      </p:sp>
      <p:sp>
        <p:nvSpPr>
          <p:cNvPr id="25" name="TextBox 24">
            <a:extLst>
              <a:ext uri="{FF2B5EF4-FFF2-40B4-BE49-F238E27FC236}">
                <a16:creationId xmlns:a16="http://schemas.microsoft.com/office/drawing/2014/main" id="{B6984D52-82F6-24C1-3ACD-5FA1DD8E4848}"/>
              </a:ext>
            </a:extLst>
          </p:cNvPr>
          <p:cNvSpPr txBox="1"/>
          <p:nvPr/>
        </p:nvSpPr>
        <p:spPr>
          <a:xfrm>
            <a:off x="1041554" y="6697962"/>
            <a:ext cx="10306026" cy="1569660"/>
          </a:xfrm>
          <a:prstGeom prst="rect">
            <a:avLst/>
          </a:prstGeom>
          <a:noFill/>
        </p:spPr>
        <p:txBody>
          <a:bodyPr wrap="none" rtlCol="0">
            <a:spAutoFit/>
          </a:bodyPr>
          <a:lstStyle/>
          <a:p>
            <a:r>
              <a:rPr lang="en-US" sz="3200" dirty="0">
                <a:solidFill>
                  <a:schemeClr val="accent3"/>
                </a:solidFill>
                <a:latin typeface="Roboto Mono" panose="00000009000000000000" pitchFamily="49" charset="0"/>
                <a:ea typeface="Roboto Mono" panose="00000009000000000000" pitchFamily="49" charset="0"/>
              </a:rPr>
              <a:t># Non-leaky yaw rate integration</a:t>
            </a:r>
          </a:p>
          <a:p>
            <a:r>
              <a:rPr lang="en-US" sz="3200" dirty="0" err="1">
                <a:solidFill>
                  <a:schemeClr val="bg1"/>
                </a:solidFill>
                <a:latin typeface="Roboto Mono" panose="00000009000000000000" pitchFamily="49" charset="0"/>
                <a:ea typeface="Roboto Mono" panose="00000009000000000000" pitchFamily="49" charset="0"/>
              </a:rPr>
              <a:t>yaw_rate</a:t>
            </a:r>
            <a:r>
              <a:rPr lang="en-US" sz="3200" dirty="0">
                <a:solidFill>
                  <a:schemeClr val="bg1"/>
                </a:solidFill>
                <a:latin typeface="Roboto Mono" panose="00000009000000000000" pitchFamily="49" charset="0"/>
                <a:ea typeface="Roboto Mono" panose="00000009000000000000" pitchFamily="49" charset="0"/>
              </a:rPr>
              <a:t> = </a:t>
            </a:r>
            <a:r>
              <a:rPr lang="en-US" sz="3200" dirty="0">
                <a:solidFill>
                  <a:schemeClr val="accent6"/>
                </a:solidFill>
                <a:latin typeface="Roboto Mono" panose="00000009000000000000" pitchFamily="49" charset="0"/>
                <a:ea typeface="Roboto Mono" panose="00000009000000000000" pitchFamily="49" charset="0"/>
              </a:rPr>
              <a:t>-1</a:t>
            </a:r>
            <a:r>
              <a:rPr lang="en-US" sz="3200" dirty="0">
                <a:solidFill>
                  <a:schemeClr val="bg1"/>
                </a:solidFill>
                <a:latin typeface="Roboto Mono" panose="00000009000000000000" pitchFamily="49" charset="0"/>
                <a:ea typeface="Roboto Mono" panose="00000009000000000000" pitchFamily="49" charset="0"/>
              </a:rPr>
              <a:t> * </a:t>
            </a:r>
            <a:r>
              <a:rPr lang="en-US" sz="3200" dirty="0" err="1">
                <a:solidFill>
                  <a:schemeClr val="bg1"/>
                </a:solidFill>
                <a:latin typeface="Roboto Mono" panose="00000009000000000000" pitchFamily="49" charset="0"/>
                <a:ea typeface="Roboto Mono" panose="00000009000000000000" pitchFamily="49" charset="0"/>
              </a:rPr>
              <a:t>read_gyro_y</a:t>
            </a:r>
            <a:r>
              <a:rPr lang="en-US" sz="3200" dirty="0">
                <a:solidFill>
                  <a:schemeClr val="bg1"/>
                </a:solidFill>
                <a:latin typeface="Roboto Mono" panose="00000009000000000000" pitchFamily="49" charset="0"/>
                <a:ea typeface="Roboto Mono" panose="00000009000000000000" pitchFamily="49" charset="0"/>
              </a:rPr>
              <a:t>()</a:t>
            </a:r>
          </a:p>
          <a:p>
            <a:r>
              <a:rPr lang="en-US" sz="3200" dirty="0">
                <a:solidFill>
                  <a:schemeClr val="bg1"/>
                </a:solidFill>
                <a:latin typeface="Roboto Mono" panose="00000009000000000000" pitchFamily="49" charset="0"/>
                <a:ea typeface="Roboto Mono" panose="00000009000000000000" pitchFamily="49" charset="0"/>
              </a:rPr>
              <a:t>heading = </a:t>
            </a:r>
            <a:r>
              <a:rPr lang="en-US" sz="3200" dirty="0">
                <a:solidFill>
                  <a:schemeClr val="accent6"/>
                </a:solidFill>
                <a:latin typeface="Roboto Mono" panose="00000009000000000000" pitchFamily="49" charset="0"/>
                <a:ea typeface="Roboto Mono" panose="00000009000000000000" pitchFamily="49" charset="0"/>
              </a:rPr>
              <a:t>1.0</a:t>
            </a:r>
            <a:r>
              <a:rPr lang="en-US" sz="3200" dirty="0">
                <a:solidFill>
                  <a:schemeClr val="bg1"/>
                </a:solidFill>
                <a:latin typeface="Roboto Mono" panose="00000009000000000000" pitchFamily="49" charset="0"/>
                <a:ea typeface="Roboto Mono" panose="00000009000000000000" pitchFamily="49" charset="0"/>
              </a:rPr>
              <a:t> * (heading + </a:t>
            </a:r>
            <a:r>
              <a:rPr lang="en-US" sz="3200" dirty="0" err="1">
                <a:solidFill>
                  <a:schemeClr val="bg1"/>
                </a:solidFill>
                <a:latin typeface="Roboto Mono" panose="00000009000000000000" pitchFamily="49" charset="0"/>
                <a:ea typeface="Roboto Mono" panose="00000009000000000000" pitchFamily="49" charset="0"/>
              </a:rPr>
              <a:t>yaw_rate</a:t>
            </a:r>
            <a:r>
              <a:rPr lang="en-US" sz="3200" dirty="0">
                <a:solidFill>
                  <a:schemeClr val="bg1"/>
                </a:solidFill>
                <a:latin typeface="Roboto Mono" panose="00000009000000000000" pitchFamily="49" charset="0"/>
                <a:ea typeface="Roboto Mono" panose="00000009000000000000" pitchFamily="49" charset="0"/>
              </a:rPr>
              <a:t> * dt)</a:t>
            </a:r>
          </a:p>
        </p:txBody>
      </p:sp>
    </p:spTree>
    <p:extLst>
      <p:ext uri="{BB962C8B-B14F-4D97-AF65-F5344CB8AC3E}">
        <p14:creationId xmlns:p14="http://schemas.microsoft.com/office/powerpoint/2010/main" val="3391036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CB099-34B9-7AFA-4B2F-AE7F3EEC9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ECBD5-1CD5-298C-429B-06D616B1DE92}"/>
              </a:ext>
            </a:extLst>
          </p:cNvPr>
          <p:cNvSpPr>
            <a:spLocks noGrp="1"/>
          </p:cNvSpPr>
          <p:nvPr>
            <p:ph type="title"/>
          </p:nvPr>
        </p:nvSpPr>
        <p:spPr>
          <a:xfrm>
            <a:off x="1257300" y="0"/>
            <a:ext cx="15773400" cy="1988345"/>
          </a:xfrm>
        </p:spPr>
        <p:txBody>
          <a:bodyPr/>
          <a:lstStyle/>
          <a:p>
            <a:pPr algn="ctr"/>
            <a:r>
              <a:rPr lang="en-US" dirty="0"/>
              <a:t>Curriculum Learning</a:t>
            </a:r>
          </a:p>
        </p:txBody>
      </p:sp>
      <p:pic>
        <p:nvPicPr>
          <p:cNvPr id="9" name="Picture 8">
            <a:extLst>
              <a:ext uri="{FF2B5EF4-FFF2-40B4-BE49-F238E27FC236}">
                <a16:creationId xmlns:a16="http://schemas.microsoft.com/office/drawing/2014/main" id="{E0ABFE0B-A6BC-42A8-2300-D8DE9A9089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173" y="3131842"/>
            <a:ext cx="7461423" cy="4663389"/>
          </a:xfrm>
          <a:prstGeom prst="rect">
            <a:avLst/>
          </a:prstGeom>
        </p:spPr>
      </p:pic>
      <p:sp>
        <p:nvSpPr>
          <p:cNvPr id="4" name="TextBox 3">
            <a:extLst>
              <a:ext uri="{FF2B5EF4-FFF2-40B4-BE49-F238E27FC236}">
                <a16:creationId xmlns:a16="http://schemas.microsoft.com/office/drawing/2014/main" id="{42C81DD0-3DF7-0B82-E754-8CC0E9940FCB}"/>
              </a:ext>
            </a:extLst>
          </p:cNvPr>
          <p:cNvSpPr txBox="1"/>
          <p:nvPr/>
        </p:nvSpPr>
        <p:spPr>
          <a:xfrm>
            <a:off x="8503927" y="1668818"/>
            <a:ext cx="9601195" cy="8309967"/>
          </a:xfrm>
          <a:prstGeom prst="rect">
            <a:avLst/>
          </a:prstGeom>
          <a:noFill/>
        </p:spPr>
        <p:txBody>
          <a:bodyPr wrap="square" rtlCol="0">
            <a:spAutoFit/>
          </a:bodyPr>
          <a:lstStyle/>
          <a:p>
            <a:pPr marL="571500" indent="-571500">
              <a:spcAft>
                <a:spcPts val="1200"/>
              </a:spcAft>
              <a:buFont typeface="Arial" panose="020B0604020202020204" pitchFamily="34" charset="0"/>
              <a:buChar char="•"/>
            </a:pPr>
            <a:r>
              <a:rPr lang="en-US" sz="4400" dirty="0">
                <a:solidFill>
                  <a:schemeClr val="bg1"/>
                </a:solidFill>
                <a:latin typeface="Roboto" panose="02000000000000000000" pitchFamily="2" charset="0"/>
                <a:ea typeface="Roboto" panose="02000000000000000000" pitchFamily="2" charset="0"/>
              </a:rPr>
              <a:t>Train policy on easier version of task</a:t>
            </a:r>
          </a:p>
          <a:p>
            <a:pPr marL="571500" indent="-571500">
              <a:spcAft>
                <a:spcPts val="1200"/>
              </a:spcAft>
              <a:buFont typeface="Arial" panose="020B0604020202020204" pitchFamily="34" charset="0"/>
              <a:buChar char="•"/>
            </a:pPr>
            <a:r>
              <a:rPr lang="en-US" sz="4400" dirty="0">
                <a:solidFill>
                  <a:schemeClr val="bg1"/>
                </a:solidFill>
                <a:latin typeface="Roboto" panose="02000000000000000000" pitchFamily="2" charset="0"/>
                <a:ea typeface="Roboto" panose="02000000000000000000" pitchFamily="2" charset="0"/>
              </a:rPr>
              <a:t>Progressively introduce harder tasks</a:t>
            </a:r>
          </a:p>
          <a:p>
            <a:pPr marL="571500" indent="-571500">
              <a:spcAft>
                <a:spcPts val="1200"/>
              </a:spcAft>
              <a:buFont typeface="Arial" panose="020B0604020202020204" pitchFamily="34" charset="0"/>
              <a:buChar char="•"/>
            </a:pPr>
            <a:r>
              <a:rPr lang="en-US" sz="4400" dirty="0">
                <a:solidFill>
                  <a:schemeClr val="bg1"/>
                </a:solidFill>
                <a:latin typeface="Roboto" panose="02000000000000000000" pitchFamily="2" charset="0"/>
                <a:ea typeface="Roboto" panose="02000000000000000000" pitchFamily="2" charset="0"/>
              </a:rPr>
              <a:t>Similar to teaching e.g. math: arithmetic &gt; algebra &gt; calculus</a:t>
            </a:r>
          </a:p>
          <a:p>
            <a:pPr marL="571500" indent="-571500">
              <a:spcAft>
                <a:spcPts val="1200"/>
              </a:spcAft>
              <a:buFont typeface="Arial" panose="020B0604020202020204" pitchFamily="34" charset="0"/>
              <a:buChar char="•"/>
            </a:pPr>
            <a:r>
              <a:rPr lang="en-US" sz="4400" dirty="0">
                <a:solidFill>
                  <a:schemeClr val="bg1"/>
                </a:solidFill>
                <a:latin typeface="Roboto" panose="02000000000000000000" pitchFamily="2" charset="0"/>
                <a:ea typeface="Roboto" panose="02000000000000000000" pitchFamily="2" charset="0"/>
              </a:rPr>
              <a:t>Without it, agents often never learn or learn some unintended workaround</a:t>
            </a:r>
          </a:p>
          <a:p>
            <a:pPr marL="571500" indent="-571500">
              <a:spcAft>
                <a:spcPts val="1200"/>
              </a:spcAft>
              <a:buFont typeface="Arial" panose="020B0604020202020204" pitchFamily="34" charset="0"/>
              <a:buChar char="•"/>
            </a:pPr>
            <a:r>
              <a:rPr lang="en-US" sz="4400" dirty="0">
                <a:solidFill>
                  <a:schemeClr val="bg1"/>
                </a:solidFill>
                <a:latin typeface="Roboto" panose="02000000000000000000" pitchFamily="2" charset="0"/>
                <a:ea typeface="Roboto" panose="02000000000000000000" pitchFamily="2" charset="0"/>
              </a:rPr>
              <a:t>Art: hand-tuning stages</a:t>
            </a:r>
          </a:p>
          <a:p>
            <a:pPr marL="571500" indent="-571500">
              <a:spcAft>
                <a:spcPts val="1200"/>
              </a:spcAft>
              <a:buFont typeface="Arial" panose="020B0604020202020204" pitchFamily="34" charset="0"/>
              <a:buChar char="•"/>
            </a:pPr>
            <a:r>
              <a:rPr lang="en-US" sz="4400" dirty="0">
                <a:solidFill>
                  <a:schemeClr val="bg1"/>
                </a:solidFill>
                <a:latin typeface="Roboto" panose="02000000000000000000" pitchFamily="2" charset="0"/>
                <a:ea typeface="Roboto" panose="02000000000000000000" pitchFamily="2" charset="0"/>
              </a:rPr>
              <a:t>Automated/parallelized phases</a:t>
            </a:r>
          </a:p>
        </p:txBody>
      </p:sp>
    </p:spTree>
    <p:extLst>
      <p:ext uri="{BB962C8B-B14F-4D97-AF65-F5344CB8AC3E}">
        <p14:creationId xmlns:p14="http://schemas.microsoft.com/office/powerpoint/2010/main" val="4026643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7BB7C-0285-9E78-39CB-6FEBEAF83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1659C-E58C-F564-05AB-0D02EAB25071}"/>
              </a:ext>
            </a:extLst>
          </p:cNvPr>
          <p:cNvSpPr>
            <a:spLocks noGrp="1"/>
          </p:cNvSpPr>
          <p:nvPr>
            <p:ph type="title"/>
          </p:nvPr>
        </p:nvSpPr>
        <p:spPr>
          <a:xfrm>
            <a:off x="1247775" y="4293393"/>
            <a:ext cx="15773400" cy="1700213"/>
          </a:xfrm>
        </p:spPr>
        <p:txBody>
          <a:bodyPr/>
          <a:lstStyle/>
          <a:p>
            <a:pPr algn="ctr"/>
            <a:r>
              <a:rPr lang="en-US" dirty="0"/>
              <a:t>Screen: Environment</a:t>
            </a:r>
          </a:p>
        </p:txBody>
      </p:sp>
    </p:spTree>
    <p:extLst>
      <p:ext uri="{BB962C8B-B14F-4D97-AF65-F5344CB8AC3E}">
        <p14:creationId xmlns:p14="http://schemas.microsoft.com/office/powerpoint/2010/main" val="2974304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EB799-F286-D197-5313-4A505857A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7E094-ACFC-B7E3-0ACE-8DEACFAAC1DE}"/>
              </a:ext>
            </a:extLst>
          </p:cNvPr>
          <p:cNvSpPr>
            <a:spLocks noGrp="1"/>
          </p:cNvSpPr>
          <p:nvPr>
            <p:ph type="title"/>
          </p:nvPr>
        </p:nvSpPr>
        <p:spPr>
          <a:xfrm>
            <a:off x="1257300" y="0"/>
            <a:ext cx="15773400" cy="1988345"/>
          </a:xfrm>
        </p:spPr>
        <p:txBody>
          <a:bodyPr/>
          <a:lstStyle/>
          <a:p>
            <a:pPr algn="ctr"/>
            <a:r>
              <a:rPr lang="en-US" dirty="0"/>
              <a:t>Sim-to-Real Gap</a:t>
            </a:r>
          </a:p>
        </p:txBody>
      </p:sp>
      <p:grpSp>
        <p:nvGrpSpPr>
          <p:cNvPr id="3" name="Group 2">
            <a:extLst>
              <a:ext uri="{FF2B5EF4-FFF2-40B4-BE49-F238E27FC236}">
                <a16:creationId xmlns:a16="http://schemas.microsoft.com/office/drawing/2014/main" id="{16612D95-1305-6F87-B928-864954366993}"/>
              </a:ext>
            </a:extLst>
          </p:cNvPr>
          <p:cNvGrpSpPr/>
          <p:nvPr/>
        </p:nvGrpSpPr>
        <p:grpSpPr>
          <a:xfrm>
            <a:off x="640173" y="3140610"/>
            <a:ext cx="4000004" cy="4005780"/>
            <a:chOff x="13771713" y="2863206"/>
            <a:chExt cx="4000004" cy="4005780"/>
          </a:xfrm>
        </p:grpSpPr>
        <p:sp>
          <p:nvSpPr>
            <p:cNvPr id="5" name="Rectangle: Rounded Corners 4">
              <a:extLst>
                <a:ext uri="{FF2B5EF4-FFF2-40B4-BE49-F238E27FC236}">
                  <a16:creationId xmlns:a16="http://schemas.microsoft.com/office/drawing/2014/main" id="{4E584829-8BB0-438D-BB96-001F4BD93188}"/>
                </a:ext>
              </a:extLst>
            </p:cNvPr>
            <p:cNvSpPr/>
            <p:nvPr/>
          </p:nvSpPr>
          <p:spPr>
            <a:xfrm>
              <a:off x="13771713" y="2868982"/>
              <a:ext cx="4000004" cy="4000004"/>
            </a:xfrm>
            <a:prstGeom prst="roundRect">
              <a:avLst>
                <a:gd name="adj" fmla="val 5104"/>
              </a:avLst>
            </a:prstGeom>
            <a:solidFill>
              <a:srgbClr val="D4D8FB"/>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6" name="Rectangle: Rounded Corners 5">
              <a:extLst>
                <a:ext uri="{FF2B5EF4-FFF2-40B4-BE49-F238E27FC236}">
                  <a16:creationId xmlns:a16="http://schemas.microsoft.com/office/drawing/2014/main" id="{0EBAC1D5-AEE6-209F-2DCE-28F39AE1BE1E}"/>
                </a:ext>
              </a:extLst>
            </p:cNvPr>
            <p:cNvSpPr/>
            <p:nvPr/>
          </p:nvSpPr>
          <p:spPr>
            <a:xfrm>
              <a:off x="13771713" y="2863206"/>
              <a:ext cx="4000004" cy="584775"/>
            </a:xfrm>
            <a:prstGeom prst="roundRect">
              <a:avLst>
                <a:gd name="adj" fmla="val 31165"/>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7" name="Rectangle: Rounded Corners 6">
              <a:extLst>
                <a:ext uri="{FF2B5EF4-FFF2-40B4-BE49-F238E27FC236}">
                  <a16:creationId xmlns:a16="http://schemas.microsoft.com/office/drawing/2014/main" id="{9B869427-3044-F501-A157-AEE635C85417}"/>
                </a:ext>
              </a:extLst>
            </p:cNvPr>
            <p:cNvSpPr/>
            <p:nvPr/>
          </p:nvSpPr>
          <p:spPr>
            <a:xfrm>
              <a:off x="13771713" y="3131842"/>
              <a:ext cx="4000004" cy="323985"/>
            </a:xfrm>
            <a:prstGeom prst="roundRect">
              <a:avLst>
                <a:gd name="adj" fmla="val 0"/>
              </a:avLst>
            </a:pr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sp>
          <p:nvSpPr>
            <p:cNvPr id="8" name="Cross 7">
              <a:extLst>
                <a:ext uri="{FF2B5EF4-FFF2-40B4-BE49-F238E27FC236}">
                  <a16:creationId xmlns:a16="http://schemas.microsoft.com/office/drawing/2014/main" id="{A09CC79F-AF7C-51F6-E334-9137EE44C314}"/>
                </a:ext>
              </a:extLst>
            </p:cNvPr>
            <p:cNvSpPr/>
            <p:nvPr/>
          </p:nvSpPr>
          <p:spPr>
            <a:xfrm rot="2700000">
              <a:off x="17304622" y="3003040"/>
              <a:ext cx="305105" cy="305105"/>
            </a:xfrm>
            <a:prstGeom prst="plus">
              <a:avLst>
                <a:gd name="adj" fmla="val 4333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40"/>
            </a:p>
          </p:txBody>
        </p:sp>
        <p:pic>
          <p:nvPicPr>
            <p:cNvPr id="10" name="Picture 9">
              <a:extLst>
                <a:ext uri="{FF2B5EF4-FFF2-40B4-BE49-F238E27FC236}">
                  <a16:creationId xmlns:a16="http://schemas.microsoft.com/office/drawing/2014/main" id="{521F0D72-F9AC-D62A-16C2-2EED95E11C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56023" y="3718687"/>
              <a:ext cx="2831383" cy="2831383"/>
            </a:xfrm>
            <a:prstGeom prst="rect">
              <a:avLst/>
            </a:prstGeom>
          </p:spPr>
        </p:pic>
        <p:sp>
          <p:nvSpPr>
            <p:cNvPr id="11" name="TextBox 10">
              <a:extLst>
                <a:ext uri="{FF2B5EF4-FFF2-40B4-BE49-F238E27FC236}">
                  <a16:creationId xmlns:a16="http://schemas.microsoft.com/office/drawing/2014/main" id="{1581AF01-C53C-7423-D1F7-AAAFD453D839}"/>
                </a:ext>
              </a:extLst>
            </p:cNvPr>
            <p:cNvSpPr txBox="1"/>
            <p:nvPr/>
          </p:nvSpPr>
          <p:spPr>
            <a:xfrm>
              <a:off x="13771713" y="2878629"/>
              <a:ext cx="4000003" cy="584775"/>
            </a:xfrm>
            <a:prstGeom prst="rect">
              <a:avLst/>
            </a:prstGeom>
            <a:noFill/>
          </p:spPr>
          <p:txBody>
            <a:bodyPr wrap="square" rtlCol="0">
              <a:spAutoFit/>
            </a:bodyPr>
            <a:lstStyle/>
            <a:p>
              <a:pPr algn="ctr"/>
              <a:r>
                <a:rPr lang="en-US" sz="3200" dirty="0">
                  <a:solidFill>
                    <a:schemeClr val="bg1"/>
                  </a:solidFill>
                  <a:latin typeface="Roboto" panose="02000000000000000000" pitchFamily="2" charset="0"/>
                  <a:ea typeface="Roboto" panose="02000000000000000000" pitchFamily="2" charset="0"/>
                </a:rPr>
                <a:t>Simulator</a:t>
              </a:r>
            </a:p>
          </p:txBody>
        </p:sp>
      </p:grpSp>
      <p:pic>
        <p:nvPicPr>
          <p:cNvPr id="13" name="Picture 12">
            <a:extLst>
              <a:ext uri="{FF2B5EF4-FFF2-40B4-BE49-F238E27FC236}">
                <a16:creationId xmlns:a16="http://schemas.microsoft.com/office/drawing/2014/main" id="{F56C8A06-F6D0-E6D4-F35D-A986F61314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3303" y="3497598"/>
            <a:ext cx="3291804" cy="3291804"/>
          </a:xfrm>
          <a:prstGeom prst="rect">
            <a:avLst/>
          </a:prstGeom>
        </p:spPr>
      </p:pic>
      <p:sp>
        <p:nvSpPr>
          <p:cNvPr id="14" name="Arrow: Right 13">
            <a:extLst>
              <a:ext uri="{FF2B5EF4-FFF2-40B4-BE49-F238E27FC236}">
                <a16:creationId xmlns:a16="http://schemas.microsoft.com/office/drawing/2014/main" id="{3DB2B867-B216-98C3-2ADC-D3E94C97AFE1}"/>
              </a:ext>
            </a:extLst>
          </p:cNvPr>
          <p:cNvSpPr/>
          <p:nvPr/>
        </p:nvSpPr>
        <p:spPr>
          <a:xfrm>
            <a:off x="4773632" y="4549146"/>
            <a:ext cx="722024" cy="1188707"/>
          </a:xfrm>
          <a:prstGeom prst="rightArrow">
            <a:avLst>
              <a:gd name="adj1" fmla="val 50000"/>
              <a:gd name="adj2" fmla="val 697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2036464-9808-99C4-2857-A2987100DDCC}"/>
              </a:ext>
            </a:extLst>
          </p:cNvPr>
          <p:cNvSpPr txBox="1"/>
          <p:nvPr/>
        </p:nvSpPr>
        <p:spPr>
          <a:xfrm>
            <a:off x="8962755" y="1921423"/>
            <a:ext cx="8410756" cy="7632859"/>
          </a:xfrm>
          <a:prstGeom prst="rect">
            <a:avLst/>
          </a:prstGeom>
          <a:noFill/>
        </p:spPr>
        <p:txBody>
          <a:bodyPr wrap="square" rtlCol="0">
            <a:spAutoFit/>
          </a:bodyPr>
          <a:lstStyle/>
          <a:p>
            <a:pPr marL="571500" indent="-5715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Simulation does not 100% accurately represent physical robot</a:t>
            </a:r>
          </a:p>
          <a:p>
            <a:pPr marL="1028700" lvl="1" indent="-5715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Modelling inaccuracies</a:t>
            </a:r>
          </a:p>
          <a:p>
            <a:pPr marL="1028700" lvl="1" indent="-5715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Electrical/mechanical physical variations/tolerances</a:t>
            </a:r>
          </a:p>
          <a:p>
            <a:pPr marL="1028700" lvl="1" indent="-5715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Sensor/motor noise</a:t>
            </a:r>
          </a:p>
          <a:p>
            <a:pPr marL="1028700" lvl="1" indent="-5715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Action lag time</a:t>
            </a:r>
          </a:p>
          <a:p>
            <a:pPr marL="571500" indent="-571500">
              <a:spcAft>
                <a:spcPts val="1200"/>
              </a:spcAft>
              <a:buFont typeface="Arial" panose="020B0604020202020204" pitchFamily="34" charset="0"/>
              <a:buChar char="•"/>
            </a:pPr>
            <a:r>
              <a:rPr lang="en-US" sz="4000" dirty="0">
                <a:solidFill>
                  <a:schemeClr val="bg1"/>
                </a:solidFill>
                <a:latin typeface="Roboto" panose="02000000000000000000" pitchFamily="2" charset="0"/>
                <a:ea typeface="Roboto" panose="02000000000000000000" pitchFamily="2" charset="0"/>
              </a:rPr>
              <a:t>Result: what worked in sim does not always work (nearly as well) in the real world</a:t>
            </a:r>
          </a:p>
        </p:txBody>
      </p:sp>
    </p:spTree>
    <p:extLst>
      <p:ext uri="{BB962C8B-B14F-4D97-AF65-F5344CB8AC3E}">
        <p14:creationId xmlns:p14="http://schemas.microsoft.com/office/powerpoint/2010/main" val="227267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4F9E6-30E9-2B85-F753-F3222DA4A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50845-C96A-59F9-5BAA-FCAE3F9B949D}"/>
              </a:ext>
            </a:extLst>
          </p:cNvPr>
          <p:cNvSpPr>
            <a:spLocks noGrp="1"/>
          </p:cNvSpPr>
          <p:nvPr>
            <p:ph type="title"/>
          </p:nvPr>
        </p:nvSpPr>
        <p:spPr>
          <a:xfrm>
            <a:off x="1257300" y="0"/>
            <a:ext cx="15773400" cy="1988345"/>
          </a:xfrm>
        </p:spPr>
        <p:txBody>
          <a:bodyPr/>
          <a:lstStyle/>
          <a:p>
            <a:pPr algn="ctr"/>
            <a:r>
              <a:rPr lang="en-US" dirty="0"/>
              <a:t>Fixing the Sim-to-Real Gap</a:t>
            </a:r>
          </a:p>
        </p:txBody>
      </p:sp>
      <p:sp>
        <p:nvSpPr>
          <p:cNvPr id="16" name="TextBox 15">
            <a:extLst>
              <a:ext uri="{FF2B5EF4-FFF2-40B4-BE49-F238E27FC236}">
                <a16:creationId xmlns:a16="http://schemas.microsoft.com/office/drawing/2014/main" id="{4D1E492B-A12B-D748-4946-80B972FC95B4}"/>
              </a:ext>
            </a:extLst>
          </p:cNvPr>
          <p:cNvSpPr txBox="1"/>
          <p:nvPr/>
        </p:nvSpPr>
        <p:spPr>
          <a:xfrm>
            <a:off x="2491899" y="1630895"/>
            <a:ext cx="14538801" cy="8648521"/>
          </a:xfrm>
          <a:prstGeom prst="rect">
            <a:avLst/>
          </a:prstGeom>
          <a:noFill/>
        </p:spPr>
        <p:txBody>
          <a:bodyPr wrap="square" rtlCol="0">
            <a:spAutoFit/>
          </a:bodyPr>
          <a:lstStyle/>
          <a:p>
            <a:pPr marL="742950" indent="-742950">
              <a:spcAft>
                <a:spcPts val="1200"/>
              </a:spcAft>
              <a:buFont typeface="+mj-lt"/>
              <a:buAutoNum type="arabicPeriod"/>
            </a:pPr>
            <a:r>
              <a:rPr lang="en-US" sz="4400" b="1" dirty="0">
                <a:solidFill>
                  <a:schemeClr val="bg1"/>
                </a:solidFill>
                <a:latin typeface="Roboto" panose="02000000000000000000" pitchFamily="2" charset="0"/>
                <a:ea typeface="Roboto" panose="02000000000000000000" pitchFamily="2" charset="0"/>
              </a:rPr>
              <a:t>Perfectly model everything in simulation</a:t>
            </a:r>
          </a:p>
          <a:p>
            <a:pPr marL="1200150" lvl="1" indent="-74295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Ensures closest match between sim and reality</a:t>
            </a:r>
          </a:p>
          <a:p>
            <a:pPr marL="1200150" lvl="1" indent="-74295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Requires lots of painstaking measurements</a:t>
            </a:r>
          </a:p>
          <a:p>
            <a:pPr marL="1200150" lvl="1" indent="-74295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Requires tight tolerances on electrical/mechanical components</a:t>
            </a:r>
          </a:p>
          <a:p>
            <a:pPr marL="742950" indent="-742950">
              <a:spcAft>
                <a:spcPts val="1200"/>
              </a:spcAft>
              <a:buFont typeface="+mj-lt"/>
              <a:buAutoNum type="arabicPeriod"/>
            </a:pPr>
            <a:r>
              <a:rPr lang="en-US" sz="4400" b="1" dirty="0">
                <a:solidFill>
                  <a:schemeClr val="bg1"/>
                </a:solidFill>
                <a:latin typeface="Roboto" panose="02000000000000000000" pitchFamily="2" charset="0"/>
                <a:ea typeface="Roboto" panose="02000000000000000000" pitchFamily="2" charset="0"/>
              </a:rPr>
              <a:t>Post-processing</a:t>
            </a:r>
          </a:p>
          <a:p>
            <a:pPr marL="1200150" lvl="1" indent="-74295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Relatively straightforward</a:t>
            </a:r>
          </a:p>
          <a:p>
            <a:pPr marL="1200150" lvl="1" indent="-74295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Known fixes e.g. filters, boosts</a:t>
            </a:r>
          </a:p>
          <a:p>
            <a:pPr marL="1200150" lvl="1" indent="-74295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Less robust (compromise by using parts of classical control methods)</a:t>
            </a:r>
          </a:p>
          <a:p>
            <a:pPr marL="742950" indent="-742950">
              <a:spcAft>
                <a:spcPts val="1200"/>
              </a:spcAft>
              <a:buFont typeface="+mj-lt"/>
              <a:buAutoNum type="arabicPeriod"/>
            </a:pPr>
            <a:r>
              <a:rPr lang="en-US" sz="4400" b="1" dirty="0">
                <a:solidFill>
                  <a:schemeClr val="bg1"/>
                </a:solidFill>
                <a:latin typeface="Roboto" panose="02000000000000000000" pitchFamily="2" charset="0"/>
                <a:ea typeface="Roboto" panose="02000000000000000000" pitchFamily="2" charset="0"/>
              </a:rPr>
              <a:t>Domain randomization</a:t>
            </a:r>
          </a:p>
          <a:p>
            <a:pPr marL="1200150" lvl="1" indent="-74295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Creates a robust policy that can handle variations</a:t>
            </a:r>
          </a:p>
          <a:p>
            <a:pPr marL="1200150" lvl="1" indent="-74295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More training time</a:t>
            </a:r>
          </a:p>
        </p:txBody>
      </p:sp>
    </p:spTree>
    <p:extLst>
      <p:ext uri="{BB962C8B-B14F-4D97-AF65-F5344CB8AC3E}">
        <p14:creationId xmlns:p14="http://schemas.microsoft.com/office/powerpoint/2010/main" val="2089394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7F2F-D0AB-F754-9AC6-836639186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98488-6E42-529B-FE0A-6312BBB6C045}"/>
              </a:ext>
            </a:extLst>
          </p:cNvPr>
          <p:cNvSpPr>
            <a:spLocks noGrp="1"/>
          </p:cNvSpPr>
          <p:nvPr>
            <p:ph type="title"/>
          </p:nvPr>
        </p:nvSpPr>
        <p:spPr>
          <a:xfrm>
            <a:off x="1257300" y="0"/>
            <a:ext cx="15773400" cy="1988345"/>
          </a:xfrm>
        </p:spPr>
        <p:txBody>
          <a:bodyPr/>
          <a:lstStyle/>
          <a:p>
            <a:pPr algn="ctr"/>
            <a:r>
              <a:rPr lang="en-US" dirty="0"/>
              <a:t>Domain Randomization</a:t>
            </a:r>
          </a:p>
        </p:txBody>
      </p:sp>
      <p:sp>
        <p:nvSpPr>
          <p:cNvPr id="4" name="TextBox 3">
            <a:extLst>
              <a:ext uri="{FF2B5EF4-FFF2-40B4-BE49-F238E27FC236}">
                <a16:creationId xmlns:a16="http://schemas.microsoft.com/office/drawing/2014/main" id="{3B5A94A6-D080-1137-57D2-404FFCADC531}"/>
              </a:ext>
            </a:extLst>
          </p:cNvPr>
          <p:cNvSpPr txBox="1"/>
          <p:nvPr/>
        </p:nvSpPr>
        <p:spPr>
          <a:xfrm>
            <a:off x="2491899" y="1851696"/>
            <a:ext cx="14538801" cy="8125301"/>
          </a:xfrm>
          <a:prstGeom prst="rect">
            <a:avLst/>
          </a:prstGeom>
          <a:noFill/>
        </p:spPr>
        <p:txBody>
          <a:bodyPr wrap="square" rtlCol="0">
            <a:spAutoFit/>
          </a:bodyPr>
          <a:lstStyle/>
          <a:p>
            <a:pPr marL="571500" indent="-57150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Vary some environmental factor (e.g. on robot, in the world) each episode or each timestep</a:t>
            </a:r>
          </a:p>
          <a:p>
            <a:pPr marL="571500" indent="-57150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Creates robust policy that can handle similar (but not exact) tasks</a:t>
            </a:r>
          </a:p>
          <a:p>
            <a:pPr marL="571500" indent="-57150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Policy that figures out how to work with slight hardware variances (sim-to-real gap)</a:t>
            </a:r>
          </a:p>
          <a:p>
            <a:pPr marL="571500" indent="-57150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Examples:</a:t>
            </a:r>
          </a:p>
          <a:p>
            <a:pPr marL="1028700" lvl="1" indent="-57150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Starting pitch and pitch rate</a:t>
            </a:r>
          </a:p>
          <a:p>
            <a:pPr marL="1028700" lvl="1" indent="-57150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Motor gain (voltage sag, asymmetry)</a:t>
            </a:r>
          </a:p>
          <a:p>
            <a:pPr marL="1028700" lvl="1" indent="-57150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Sensor noise</a:t>
            </a:r>
          </a:p>
          <a:p>
            <a:pPr marL="1028700" lvl="1" indent="-57150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Mass and friction</a:t>
            </a:r>
          </a:p>
          <a:p>
            <a:pPr marL="1028700" lvl="1" indent="-57150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Bumps and obstacles</a:t>
            </a:r>
          </a:p>
          <a:p>
            <a:pPr marL="1028700" lvl="1" indent="-571500">
              <a:spcAft>
                <a:spcPts val="1200"/>
              </a:spcAft>
              <a:buFont typeface="Arial" panose="020B0604020202020204" pitchFamily="34" charset="0"/>
              <a:buChar char="•"/>
            </a:pPr>
            <a:r>
              <a:rPr lang="en-US" sz="3600" dirty="0">
                <a:solidFill>
                  <a:schemeClr val="bg1"/>
                </a:solidFill>
                <a:latin typeface="Roboto" panose="02000000000000000000" pitchFamily="2" charset="0"/>
                <a:ea typeface="Roboto" panose="02000000000000000000" pitchFamily="2" charset="0"/>
              </a:rPr>
              <a:t>Gravity (balance on uneven surfaces)</a:t>
            </a:r>
          </a:p>
        </p:txBody>
      </p:sp>
    </p:spTree>
    <p:extLst>
      <p:ext uri="{BB962C8B-B14F-4D97-AF65-F5344CB8AC3E}">
        <p14:creationId xmlns:p14="http://schemas.microsoft.com/office/powerpoint/2010/main" val="2394975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BCCE9-9EC6-0139-11BE-F48CFD986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5638A5-9FCF-B9B5-EC6F-FAFD236EE080}"/>
              </a:ext>
            </a:extLst>
          </p:cNvPr>
          <p:cNvSpPr>
            <a:spLocks noGrp="1"/>
          </p:cNvSpPr>
          <p:nvPr>
            <p:ph type="title"/>
          </p:nvPr>
        </p:nvSpPr>
        <p:spPr>
          <a:xfrm>
            <a:off x="1247775" y="4293393"/>
            <a:ext cx="15773400" cy="1700213"/>
          </a:xfrm>
        </p:spPr>
        <p:txBody>
          <a:bodyPr/>
          <a:lstStyle/>
          <a:p>
            <a:pPr algn="ctr"/>
            <a:r>
              <a:rPr lang="en-US" dirty="0"/>
              <a:t>Screen: Deploy</a:t>
            </a:r>
          </a:p>
        </p:txBody>
      </p:sp>
    </p:spTree>
    <p:extLst>
      <p:ext uri="{BB962C8B-B14F-4D97-AF65-F5344CB8AC3E}">
        <p14:creationId xmlns:p14="http://schemas.microsoft.com/office/powerpoint/2010/main" val="4075552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7D445-E04F-39E7-2355-6005806E0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ECEF3-88DA-4261-93B1-2FDD6A31DAAA}"/>
              </a:ext>
            </a:extLst>
          </p:cNvPr>
          <p:cNvSpPr>
            <a:spLocks noGrp="1"/>
          </p:cNvSpPr>
          <p:nvPr>
            <p:ph type="title"/>
          </p:nvPr>
        </p:nvSpPr>
        <p:spPr>
          <a:xfrm>
            <a:off x="1257300" y="0"/>
            <a:ext cx="15773400" cy="1988345"/>
          </a:xfrm>
        </p:spPr>
        <p:txBody>
          <a:bodyPr/>
          <a:lstStyle/>
          <a:p>
            <a:pPr algn="ctr"/>
            <a:r>
              <a:rPr lang="en-US" dirty="0"/>
              <a:t>Going Further</a:t>
            </a:r>
          </a:p>
        </p:txBody>
      </p:sp>
      <p:sp>
        <p:nvSpPr>
          <p:cNvPr id="4" name="TextBox 3">
            <a:extLst>
              <a:ext uri="{FF2B5EF4-FFF2-40B4-BE49-F238E27FC236}">
                <a16:creationId xmlns:a16="http://schemas.microsoft.com/office/drawing/2014/main" id="{AFF4791F-4198-AA53-9290-55155E36E578}"/>
              </a:ext>
            </a:extLst>
          </p:cNvPr>
          <p:cNvSpPr txBox="1"/>
          <p:nvPr/>
        </p:nvSpPr>
        <p:spPr>
          <a:xfrm>
            <a:off x="2308934" y="1485940"/>
            <a:ext cx="13670131" cy="8710077"/>
          </a:xfrm>
          <a:prstGeom prst="rect">
            <a:avLst/>
          </a:prstGeom>
          <a:noFill/>
        </p:spPr>
        <p:txBody>
          <a:bodyPr wrap="square" rtlCol="0">
            <a:spAutoFit/>
          </a:bodyPr>
          <a:lstStyle/>
          <a:p>
            <a:r>
              <a:rPr lang="en-US" sz="4400" dirty="0">
                <a:solidFill>
                  <a:schemeClr val="bg1"/>
                </a:solidFill>
                <a:latin typeface="Roboto" panose="02000000000000000000" pitchFamily="2" charset="0"/>
                <a:ea typeface="Roboto" panose="02000000000000000000" pitchFamily="2" charset="0"/>
              </a:rPr>
              <a:t>RL for Robotics video series:</a:t>
            </a:r>
          </a:p>
          <a:p>
            <a:r>
              <a:rPr lang="en-US" sz="4400" dirty="0">
                <a:solidFill>
                  <a:schemeClr val="accent3"/>
                </a:solidFill>
                <a:latin typeface="Roboto" panose="02000000000000000000" pitchFamily="2" charset="0"/>
                <a:ea typeface="Roboto" panose="02000000000000000000" pitchFamily="2" charset="0"/>
              </a:rPr>
              <a:t>youtube.com/watch?v=kGish1q_WC8</a:t>
            </a:r>
          </a:p>
          <a:p>
            <a:endParaRPr lang="en-US" sz="800" dirty="0">
              <a:solidFill>
                <a:schemeClr val="accent3"/>
              </a:solidFill>
              <a:latin typeface="Roboto" panose="02000000000000000000" pitchFamily="2" charset="0"/>
              <a:ea typeface="Roboto" panose="02000000000000000000" pitchFamily="2" charset="0"/>
            </a:endParaRPr>
          </a:p>
          <a:p>
            <a:r>
              <a:rPr lang="en-US" sz="4400" dirty="0">
                <a:solidFill>
                  <a:schemeClr val="bg1"/>
                </a:solidFill>
                <a:latin typeface="Roboto" panose="02000000000000000000" pitchFamily="2" charset="0"/>
                <a:ea typeface="Roboto" panose="02000000000000000000" pitchFamily="2" charset="0"/>
              </a:rPr>
              <a:t>My blog posts: </a:t>
            </a:r>
          </a:p>
          <a:p>
            <a:r>
              <a:rPr lang="en-US" sz="4400" dirty="0">
                <a:solidFill>
                  <a:schemeClr val="accent3"/>
                </a:solidFill>
                <a:latin typeface="Roboto" panose="02000000000000000000" pitchFamily="2" charset="0"/>
                <a:ea typeface="Roboto" panose="02000000000000000000" pitchFamily="2" charset="0"/>
              </a:rPr>
              <a:t>shawnhymel.com/blog/</a:t>
            </a:r>
          </a:p>
          <a:p>
            <a:endParaRPr lang="en-US" sz="800" dirty="0">
              <a:solidFill>
                <a:schemeClr val="accent3"/>
              </a:solidFill>
              <a:latin typeface="Roboto" panose="02000000000000000000" pitchFamily="2" charset="0"/>
              <a:ea typeface="Roboto" panose="02000000000000000000" pitchFamily="2" charset="0"/>
            </a:endParaRPr>
          </a:p>
          <a:p>
            <a:r>
              <a:rPr lang="en-US" sz="4400" dirty="0">
                <a:solidFill>
                  <a:schemeClr val="bg1"/>
                </a:solidFill>
                <a:latin typeface="Roboto" panose="02000000000000000000" pitchFamily="2" charset="0"/>
                <a:ea typeface="Roboto" panose="02000000000000000000" pitchFamily="2" charset="0"/>
              </a:rPr>
              <a:t>Sutton &amp; Barto: </a:t>
            </a:r>
          </a:p>
          <a:p>
            <a:r>
              <a:rPr lang="en-US" sz="4400" dirty="0">
                <a:solidFill>
                  <a:schemeClr val="accent3"/>
                </a:solidFill>
                <a:latin typeface="Roboto" panose="02000000000000000000" pitchFamily="2" charset="0"/>
                <a:ea typeface="Roboto" panose="02000000000000000000" pitchFamily="2" charset="0"/>
              </a:rPr>
              <a:t>incompleteideas.net/book/the-book-2nd.html</a:t>
            </a:r>
          </a:p>
          <a:p>
            <a:endParaRPr lang="en-US" sz="800" dirty="0">
              <a:solidFill>
                <a:schemeClr val="accent3"/>
              </a:solidFill>
              <a:latin typeface="Roboto" panose="02000000000000000000" pitchFamily="2" charset="0"/>
              <a:ea typeface="Roboto" panose="02000000000000000000" pitchFamily="2" charset="0"/>
            </a:endParaRPr>
          </a:p>
          <a:p>
            <a:r>
              <a:rPr lang="en-US" sz="4400" dirty="0">
                <a:solidFill>
                  <a:schemeClr val="bg1"/>
                </a:solidFill>
                <a:latin typeface="Roboto" panose="02000000000000000000" pitchFamily="2" charset="0"/>
                <a:ea typeface="Roboto" panose="02000000000000000000" pitchFamily="2" charset="0"/>
              </a:rPr>
              <a:t>Grokking Deep RL: </a:t>
            </a:r>
          </a:p>
          <a:p>
            <a:r>
              <a:rPr lang="en-US" sz="4400" dirty="0">
                <a:solidFill>
                  <a:schemeClr val="accent3"/>
                </a:solidFill>
                <a:latin typeface="Roboto" panose="02000000000000000000" pitchFamily="2" charset="0"/>
                <a:ea typeface="Roboto" panose="02000000000000000000" pitchFamily="2" charset="0"/>
              </a:rPr>
              <a:t>manning.com/books/grokking-deep-reinforcement-learning</a:t>
            </a:r>
          </a:p>
          <a:p>
            <a:endParaRPr lang="en-US" sz="800" dirty="0">
              <a:solidFill>
                <a:schemeClr val="accent3"/>
              </a:solidFill>
              <a:latin typeface="Roboto" panose="02000000000000000000" pitchFamily="2" charset="0"/>
              <a:ea typeface="Roboto" panose="02000000000000000000" pitchFamily="2" charset="0"/>
            </a:endParaRPr>
          </a:p>
          <a:p>
            <a:r>
              <a:rPr lang="en-US" sz="4400" dirty="0">
                <a:solidFill>
                  <a:schemeClr val="bg1"/>
                </a:solidFill>
                <a:latin typeface="Roboto" panose="02000000000000000000" pitchFamily="2" charset="0"/>
                <a:ea typeface="Roboto" panose="02000000000000000000" pitchFamily="2" charset="0"/>
              </a:rPr>
              <a:t>David Silver lectures: </a:t>
            </a:r>
            <a:r>
              <a:rPr lang="en-US" sz="4400" dirty="0">
                <a:solidFill>
                  <a:schemeClr val="accent3"/>
                </a:solidFill>
                <a:latin typeface="Roboto" panose="02000000000000000000" pitchFamily="2" charset="0"/>
                <a:ea typeface="Roboto" panose="02000000000000000000" pitchFamily="2" charset="0"/>
              </a:rPr>
              <a:t>youtube.com/watch?v=2pWv7GOvuf0&amp;list=PLqYmG7hTraZDM-OYHWgPebj2MfCFzFObQ</a:t>
            </a:r>
          </a:p>
        </p:txBody>
      </p:sp>
    </p:spTree>
    <p:extLst>
      <p:ext uri="{BB962C8B-B14F-4D97-AF65-F5344CB8AC3E}">
        <p14:creationId xmlns:p14="http://schemas.microsoft.com/office/powerpoint/2010/main" val="157242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45D50-7425-0094-AD2F-4711331EE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374BCF-6C66-F885-473A-F78A0910F850}"/>
              </a:ext>
            </a:extLst>
          </p:cNvPr>
          <p:cNvSpPr>
            <a:spLocks noGrp="1"/>
          </p:cNvSpPr>
          <p:nvPr>
            <p:ph type="title"/>
          </p:nvPr>
        </p:nvSpPr>
        <p:spPr>
          <a:xfrm>
            <a:off x="1247775" y="4293393"/>
            <a:ext cx="15773400" cy="1700213"/>
          </a:xfrm>
        </p:spPr>
        <p:txBody>
          <a:bodyPr/>
          <a:lstStyle/>
          <a:p>
            <a:pPr algn="ctr"/>
            <a:r>
              <a:rPr lang="en-US" dirty="0"/>
              <a:t>The End</a:t>
            </a:r>
          </a:p>
        </p:txBody>
      </p:sp>
    </p:spTree>
    <p:extLst>
      <p:ext uri="{BB962C8B-B14F-4D97-AF65-F5344CB8AC3E}">
        <p14:creationId xmlns:p14="http://schemas.microsoft.com/office/powerpoint/2010/main" val="428817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2">
      <a:dk1>
        <a:srgbClr val="080623"/>
      </a:dk1>
      <a:lt1>
        <a:srgbClr val="FFFFFF"/>
      </a:lt1>
      <a:dk2>
        <a:srgbClr val="FF2100"/>
      </a:dk2>
      <a:lt2>
        <a:srgbClr val="D3A269"/>
      </a:lt2>
      <a:accent1>
        <a:srgbClr val="480BBE"/>
      </a:accent1>
      <a:accent2>
        <a:srgbClr val="D4D8FB"/>
      </a:accent2>
      <a:accent3>
        <a:srgbClr val="E7CCAB"/>
      </a:accent3>
      <a:accent4>
        <a:srgbClr val="F9EFE4"/>
      </a:accent4>
      <a:accent5>
        <a:srgbClr val="6A0A06"/>
      </a:accent5>
      <a:accent6>
        <a:srgbClr val="FFBCB3"/>
      </a:accent6>
      <a:hlink>
        <a:srgbClr val="D4D8FB"/>
      </a:hlink>
      <a:folHlink>
        <a:srgbClr val="FFBCB3"/>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5377</TotalTime>
  <Words>1137</Words>
  <Application>Microsoft Office PowerPoint</Application>
  <PresentationFormat>Custom</PresentationFormat>
  <Paragraphs>186</Paragraphs>
  <Slides>24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DigiKey Artex</vt:lpstr>
      <vt:lpstr>Roboto</vt:lpstr>
      <vt:lpstr>Roboto Mono</vt:lpstr>
      <vt:lpstr>Office Theme</vt:lpstr>
      <vt:lpstr>Reinforcement Learning for Robotics</vt:lpstr>
      <vt:lpstr>Why Reinforcement Learning?</vt:lpstr>
      <vt:lpstr>Screen: Training Phase 1</vt:lpstr>
      <vt:lpstr>CAD to Simulator</vt:lpstr>
      <vt:lpstr>Screen: FreeCAD and MJCF</vt:lpstr>
      <vt:lpstr>Screen: Training Phase 2</vt:lpstr>
      <vt:lpstr>Reinforcement Learning: Balance Bot</vt:lpstr>
      <vt:lpstr>Reinforcement Learning: Balance Bot</vt:lpstr>
      <vt:lpstr>Actor/Critic Agent</vt:lpstr>
      <vt:lpstr>Deploy Actor</vt:lpstr>
      <vt:lpstr>Screen: CleanRL PPO</vt:lpstr>
      <vt:lpstr>Charts You Should Care About</vt:lpstr>
      <vt:lpstr>Charts You Should Care About</vt:lpstr>
      <vt:lpstr>Charts You Should Care About</vt:lpstr>
      <vt:lpstr>Screen: Training Phase 3</vt:lpstr>
      <vt:lpstr>Position, Velocity, Heading Estimation</vt:lpstr>
      <vt:lpstr>Curriculum Learning</vt:lpstr>
      <vt:lpstr>Screen: Environment</vt:lpstr>
      <vt:lpstr>Sim-to-Real Gap</vt:lpstr>
      <vt:lpstr>Fixing the Sim-to-Real Gap</vt:lpstr>
      <vt:lpstr>Domain Randomization</vt:lpstr>
      <vt:lpstr>Screen: Deploy</vt:lpstr>
      <vt:lpstr>Going Further</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Shawn Hymel</dc:creator>
  <cp:lastModifiedBy>Shawn Hymel</cp:lastModifiedBy>
  <cp:revision>72</cp:revision>
  <dcterms:created xsi:type="dcterms:W3CDTF">2024-08-02T16:32:03Z</dcterms:created>
  <dcterms:modified xsi:type="dcterms:W3CDTF">2026-08-10T19:59:13Z</dcterms:modified>
</cp:coreProperties>
</file>